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fca597c2dd49cf" /><Relationship Type="http://schemas.openxmlformats.org/officeDocument/2006/relationships/extended-properties" Target="/docProps/app.xml" Id="R6dcf6762c0624d2a" /><Relationship Type="http://schemas.openxmlformats.org/officeDocument/2006/relationships/officeDocument" Target="/ppt/presentation.xml" Id="R26f2cc4148ac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b6aa9e2c44a0c"/>
  </p:sldMasterIdLst>
  <p:notesMasterIdLst>
    <p:notesMasterId xmlns:r="http://schemas.openxmlformats.org/officeDocument/2006/relationships" r:id="R7516ea19ea8f4aab"/>
  </p:notesMasterIdLst>
  <p:sldIdLst>
    <p:sldId xmlns:r="http://schemas.openxmlformats.org/officeDocument/2006/relationships" id="256" r:id="R31c407dfa0ce4613"/>
    <p:sldId xmlns:r="http://schemas.openxmlformats.org/officeDocument/2006/relationships" id="257" r:id="R0f1b6ee1acdf4c3d"/>
    <p:sldId xmlns:r="http://schemas.openxmlformats.org/officeDocument/2006/relationships" id="258" r:id="Rda6540bc925f452d"/>
    <p:sldId xmlns:r="http://schemas.openxmlformats.org/officeDocument/2006/relationships" id="259" r:id="Ra6ccd3a9f30c4d5a"/>
    <p:sldId xmlns:r="http://schemas.openxmlformats.org/officeDocument/2006/relationships" id="260" r:id="Rb90be0d8bdb04fb4"/>
    <p:sldId xmlns:r="http://schemas.openxmlformats.org/officeDocument/2006/relationships" id="261" r:id="R18b404882f5d4c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9e9e815e8437e" /><Relationship Type="http://schemas.openxmlformats.org/officeDocument/2006/relationships/slideMaster" Target="/ppt/slideMasters/slideMaster1.xml" Id="R471b6aa9e2c44a0c" /><Relationship Type="http://schemas.openxmlformats.org/officeDocument/2006/relationships/notesMaster" Target="/ppt/notesMasters/notesMaster1.xml" Id="R7516ea19ea8f4aab" /><Relationship Type="http://schemas.openxmlformats.org/officeDocument/2006/relationships/presProps" Target="/ppt/presProps.xml" Id="R3f96f7e4dbda4f17" /><Relationship Type="http://schemas.openxmlformats.org/officeDocument/2006/relationships/tableStyles" Target="/ppt/tableStyles.xml" Id="Rbbcd0fcc4db14820" /><Relationship Type="http://schemas.openxmlformats.org/officeDocument/2006/relationships/slide" Target="/ppt/slides/slide1.xml" Id="R31c407dfa0ce4613" /><Relationship Type="http://schemas.openxmlformats.org/officeDocument/2006/relationships/slide" Target="/ppt/slides/slide2.xml" Id="R0f1b6ee1acdf4c3d" /><Relationship Type="http://schemas.openxmlformats.org/officeDocument/2006/relationships/slide" Target="/ppt/slides/slide3.xml" Id="Rda6540bc925f452d" /><Relationship Type="http://schemas.openxmlformats.org/officeDocument/2006/relationships/slide" Target="/ppt/slides/slide4.xml" Id="Ra6ccd3a9f30c4d5a" /><Relationship Type="http://schemas.openxmlformats.org/officeDocument/2006/relationships/slide" Target="/ppt/slides/slide5.xml" Id="Rb90be0d8bdb04fb4" /><Relationship Type="http://schemas.openxmlformats.org/officeDocument/2006/relationships/slide" Target="/ppt/slides/slide6.xml" Id="R18b404882f5d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340f47154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78403c6e146db" /><Relationship Type="http://schemas.openxmlformats.org/officeDocument/2006/relationships/notesMaster" Target="/ppt/notesMasters/notesMaster1.xml" Id="R28d9b65fbadd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1ddbba383441a" /><Relationship Type="http://schemas.openxmlformats.org/officeDocument/2006/relationships/notesMaster" Target="/ppt/notesMasters/notesMaster1.xml" Id="Rff82bf8b9eb14a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ef8c20f0e4a0a" /><Relationship Type="http://schemas.openxmlformats.org/officeDocument/2006/relationships/notesMaster" Target="/ppt/notesMasters/notesMaster1.xml" Id="Rd168b1996d8545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16a68e37a046e0" /><Relationship Type="http://schemas.openxmlformats.org/officeDocument/2006/relationships/notesMaster" Target="/ppt/notesMasters/notesMaster1.xml" Id="Re3909cc98a6e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0a2ef201954c2e" /><Relationship Type="http://schemas.openxmlformats.org/officeDocument/2006/relationships/notesMaster" Target="/ppt/notesMasters/notesMaster1.xml" Id="R5ad23d0f0e8544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e37befd6be4f0f" /><Relationship Type="http://schemas.openxmlformats.org/officeDocument/2006/relationships/notesMaster" Target="/ppt/notesMasters/notesMaster1.xml" Id="Rd2365f8be4a9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事实来源：HANDOFF.md、当前 PRD、当前源码与验收资料。该封面不表达真实模型准确率或生产上线状态。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产品边界来自 HANDOFF.md。需要强调：当前代码和自动化检查不能单独推出真实 OCR 或评分准确率。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架构元素均来自当前源码目录与依赖文件。SQLite 和单机 worker 是当前交付边界，不应直接扩展为多机生产承诺。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流程来自 HANDOFF 和当前 API/工作流代码。复核是产品边界中的关键人工节点。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能力描述依据当前代码和交付结构；性能优化只在不改变业务语义的前提下进行。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交付边界来自 HANDOFF 和实际检查结果。‘已验证’与‘待真实验收’必须分开，避免过度承诺。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8cba7dac7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0d10993264324" /><Relationship Type="http://schemas.openxmlformats.org/officeDocument/2006/relationships/slideLayout" Target="/ppt/slideLayouts/slideLayout1.xml" Id="R216c5a2a1352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c5a2a1352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ec82e8b044515" /><Relationship Type="http://schemas.openxmlformats.org/officeDocument/2006/relationships/notesSlide" Target="/ppt/notesSlides/notesSlide1.xml" Id="Rb235e0d1ccf8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37f0ac7d14ea8" /><Relationship Type="http://schemas.openxmlformats.org/officeDocument/2006/relationships/notesSlide" Target="/ppt/notesSlides/notesSlide2.xml" Id="Rc9782b39b36c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c05eb119b42f6" /><Relationship Type="http://schemas.openxmlformats.org/officeDocument/2006/relationships/notesSlide" Target="/ppt/notesSlides/notesSlide3.xml" Id="R680dcc2a94ce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400b9a1cc4f5e" /><Relationship Type="http://schemas.openxmlformats.org/officeDocument/2006/relationships/notesSlide" Target="/ppt/notesSlides/notesSlide4.xml" Id="Ra951388e42c44e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c94cab96242ab" /><Relationship Type="http://schemas.openxmlformats.org/officeDocument/2006/relationships/notesSlide" Target="/ppt/notesSlides/notesSlide5.xml" Id="R3936e4cb6ff940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013b1367b488c" /><Relationship Type="http://schemas.openxmlformats.org/officeDocument/2006/relationships/notesSlide" Target="/ppt/notesSlides/notesSlide6.xml" Id="R7205d55e4d8248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96352-6AB2-4786-B3D9-CAEE41D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714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8392A-E172-4E93-804F-E0E661DC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171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96832-1E27-4037-BE25-53A45ADB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573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AI自动批改作业智能体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E8390-3B3E-435F-9482-D3A5B9B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批小智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DEE4C-A0FA-4DDD-BCA9-2BBAADB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教师作业批改工作流的可追踪 WebApp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1F15B-BCA9-4BF4-B1C7-91F0740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866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57ADA-D999-4980-9711-2747226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2435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登录  →  班级/学生  →  批次与文件  →  OCR/分组  →  评分  →  教师复核  →  报告导出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B1C14-73A6-4090-98EB-95B72C89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项目交付包 · v1.0.0 · 2026-09-20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F20E6-F9C2-4538-8214-E96522E9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AB7FC-AED8-49F9-82DE-CC4741E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AI自动批改作业智能体-批小智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748DD-ADDA-4E70-B4B9-F21D6D09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6350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0CC5A-AA17-4150-91DD-78A97F6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3D27A-AA95-4F82-B81D-52D1F04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01 / 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B142F-ADBC-40B8-8277-8C136BC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把“批改作业”拆成可确认、可恢复的工作流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3D32-FD6F-4B34-B706-7A70B263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产品重点不是单次模型输出，而是从文件进入到教师确认和报告导出的证据链。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C2A6-F958-4827-A6B1-82AE76C3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48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FC429-0881-45BE-91DD-3FB6B16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8C34C-4CF8-4FD1-9781-D91381A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解决的问题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6568D-6F4A-4BBD-B8D8-972C10D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作业文件来源和角色容易混淆</a:t>
            </a:r>
          </a:p>
          <a:p xmlns:a="http://schemas.openxmlformats.org/drawingml/2006/main">
            <a:pPr>
              <a:defRPr sz="15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OCR、题目分组和评分都有不确定性</a:t>
            </a:r>
          </a:p>
          <a:p xmlns:a="http://schemas.openxmlformats.org/drawingml/2006/main">
            <a:pPr>
              <a:defRPr sz="15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教师需要看到依据并能修正</a:t>
            </a:r>
          </a:p>
          <a:p xmlns:a="http://schemas.openxmlformats.org/drawingml/2006/main">
            <a:pPr>
              <a:defRPr sz="15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报告必须能追溯到批次和复核结果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2EA94-EE75-4ACF-A621-92C111A4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3149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5BB64-72EE-453E-83C9-97D9DE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B2362-92E1-4E75-9845-B364365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明确的边界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E5CED-3C25-49F4-A3DF-9E70AF3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题目卷 ≠ 学生作业</a:t>
            </a:r>
          </a:p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自动评分 ≠ 教师最终结论</a:t>
            </a:r>
          </a:p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接口可用 ≠ 全链路验收</a:t>
            </a:r>
          </a:p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构建通过 ≠ 真实准确率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43AF7-17D9-49B5-A89A-179F945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414AE-3F4E-425D-BF6E-525027B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批小智 · 项目交付说明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E54E8-82E5-4DB4-BB2C-A53E5F7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7019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73EF3-3DB7-49F7-9352-8D4CB28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2A2A4-F449-4452-96AF-5D844920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02 /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10A1F-B38D-4470-8391-31443668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前后端分层，任务状态和证据留在系统里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6B62-0B8F-4DA9-8029-3926175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React/Vite 负责教师操作；FastAPI 负责资源、权限和任务接口；SQLite 适配当前单机交付边界。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CD476-6839-413E-A2C3-D5A4512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2E6CA-F894-4A34-8A86-A4E4230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9525">
            <a:solidFill>
              <a:srgbClr val="0D6B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D76F7-429B-4609-85AE-8084F04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WebApp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7C919-A273-451E-8A78-23D3078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58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React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TypeScript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Vite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App.tsx / client.ts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53533-B99F-4FD0-B16F-090BB7CE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0D6B7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F3D7D-F214-4973-92EE-5F79A3E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API 与业务层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08860-C201-4FF0-AC95-80FEA79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04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认证 / 批次 / 文件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OCR / 评分 / 报告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Pydantic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A8BEF-7138-47C0-828F-A9F56805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D75B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4E8F2-1EFA-414D-BA2E-B1424C6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工作流与任务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40D1B-2AC4-4560-B7E3-C31C2E88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OCR graph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Grading graph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Workers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重试 / 历史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307AB-3B9B-44A6-BB9C-48F27C82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D7A7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C1126-8A96-41E4-911E-465C113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36A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36A16"/>
                </a:solidFill>
                <a:latin typeface="Arial"/>
                <a:ea typeface="Arial"/>
                <a:cs typeface="Arial"/>
              </a:rPr>
              <a:t>数据与证据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AD84-2199-4B60-9129-AF392B7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00450"/>
            <a:ext cx="1390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SQLAlchemy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Alembic</a:t>
            </a:r>
          </a:p>
          <a:p xmlns:a="http://schemas.openxmlformats.org/drawingml/2006/main">
            <a:pPr>
              <a:defRPr sz="1275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文件生命周期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F90A5-9510-4553-AD8C-52B777C2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33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请求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C5185-F779-4588-B4B6-9467D353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BF478-3887-41C8-B5BA-EC5EDF1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33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36A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6A16"/>
                </a:solidFill>
                <a:latin typeface="Arial"/>
                <a:ea typeface="Arial"/>
                <a:cs typeface="Arial"/>
              </a:rPr>
              <a:t>持久化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E229C-BE01-496F-B305-4BB5BA19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77D1F-5AD4-4F13-A258-4EF2B5F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批小智 · 项目交付说明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B5EAC-42DD-44AA-99E6-52BE6FF3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7803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EFBFD7-C5EE-45D2-B7D3-EB39C21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CCB71-370B-4E57-8406-D2846E1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03 / 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69394-BA09-4E2E-8382-189975C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每个不确定节点，都给教师一个确认入口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92241-3E17-4163-880E-302644D2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异步任务返回 202 时只代表已接受；最终状态、失败原因、重试和人工修改都需要可见。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BD2EB-40A5-4CC8-989A-3EB0F3B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0D6B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6D847-7DF1-437F-8FF4-11942F6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230DA-D66D-445D-B69C-788696C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登录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A727E-B0DA-4A0F-A54D-C0C1FB55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会话与权限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73E71-A43F-4AC5-97DE-B376E2E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80E50-4F9F-4B40-AEB8-2B1E3B0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0D6B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5DA52-DA67-4686-881F-60740A3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6FE4A-4062-46C0-B2C5-D7DD8E8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批次/文件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B319F-2513-4D0B-9803-BE75AC3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题目卷与学生作业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B3B6F-A9F6-4F37-8D23-6137D79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3D993-21A5-46A7-995A-70C6FCF7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D75B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8BE97-A3D9-472A-824C-3C8B47D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B6A49-22E8-41BB-B2A2-B086635A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OCR/分组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5BB43-723A-46EA-A76D-19F9B09D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页面、题目与置信度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5E059-824C-4765-8678-BA8B325F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28CE5-42AE-4284-AE1C-458F1003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D75B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5313E-CC3C-4B38-80A0-C63063C2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9CBE6-DFD9-4C98-874B-AABA675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B67B3-473F-46B4-951A-CAD43551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客观规则与模型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E954E-3B7B-4795-843D-B6CDD00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07A4B-89B6-4FCD-9BEF-6ECDB3D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7A74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27EF7-41AA-4278-8C9E-DE3E183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7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A7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FD3B2-BFAC-4C99-B7B2-EFC1ED0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教师复核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18FB8-6662-4C46-A9C7-A1DB757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确认、修改、历史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D23C6-0A4D-484F-864E-F28700B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8E5EF-CEA9-46A2-913C-3C8CAC9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562100" cy="1790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0D6B7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CFBED-7892-4863-A6D3-8363CB04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5428A-B165-46D8-9389-A2263FE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报告/导出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A3BA02-21D6-49E5-8011-CC88435F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统计与学生报告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4D59A-9611-4749-A018-D2698F9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1C180-1B52-42AD-AB96-00CACE9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024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证据链：原始文件 → OCR 结果 → 分组/修正 → 评分任务 → 教师复核 → 报告导出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D715B8-8A5E-4DA6-864C-46227FE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9DB57-5E04-4A16-BD0E-78A7AC4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批小智 · 项目交付说明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26012-B781-49FD-8C84-E713CF8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8518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5E167-04A5-4737-8836-DB94C91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5FF7F-A49A-4286-8E1C-F766DC3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04 / 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B2A27-C262-4D81-A080-6699254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交付的不只是页面，而是一套可验证的工程骨架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FC080-00C5-4E0A-9C18-3872D22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源码、部署版、实训指导书和 RAG 语料围绕同一份项目边界组织。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A2BC8-706B-496E-A2EC-E4A7F4F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6DBC1-0D9B-4DA9-83B9-88DCF8B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7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8A97A-5A9D-4322-A573-476C5D35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可追踪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37BD1-A382-4D9B-8C2C-0FB09D52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批次、文件、页面、题目、评分与报告有明确定位。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B1114-DA79-43BB-BA5A-3316397F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9302B-DE04-4713-AED6-6C24066D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1243E-43D6-4BE9-9630-CC8909AF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可恢复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478B9-1957-41C3-B0F4-4FB0A70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任务状态、错误、重试和历史不被静默吞掉。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40966-B8D1-4240-BFF1-BC16449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ED58E-E64B-441A-AB67-A5EDB55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7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F26CD-0898-47B8-B49C-AC320872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A7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A74B"/>
                </a:solidFill>
                <a:latin typeface="Arial"/>
                <a:ea typeface="Arial"/>
                <a:cs typeface="Arial"/>
              </a:rPr>
              <a:t>可复核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1C29B-F5B0-442B-B4AD-A31AC062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教师能看到依据并确认或修改自动结果。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0BDF8-1505-487D-822D-99DA629C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D4057-1217-4894-A4B2-970D593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7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6B6A3-B859-4632-A2BB-83A8B17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可交付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E3D40-1B1C-4D22-9270-47E07F18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代码包、静态资源、实训文档、PPT 和语料分层。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7F3B4-6657-42CA-8AB5-D6186C2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1A590-F286-4DAB-9689-9D2AF5E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81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优化原则：性能改动不能改变任务状态、教师确认和证据生命周期。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FB408-997D-4880-87F9-7CF09662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E2A2C-ED8B-425C-A296-B8BAECE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批小智 · 项目交付说明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62EB2-39CA-4F4B-AE63-30267249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0749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C5CDB-F410-49FB-B936-C8DC93D2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64719-6CCD-4E16-A77C-4E2B3A5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05 / 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C9A19-EDB4-4A3B-850A-0BF9FE9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A2F"/>
                </a:solidFill>
                <a:latin typeface="Arial"/>
                <a:ea typeface="Arial"/>
                <a:cs typeface="Arial"/>
              </a:rPr>
              <a:t>一份能继续开发、实训和验收的项目版本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410CF-0537-4449-BE67-7DF062D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目录结构对齐参考交付包，同时保留当前项目的真实边界和未验收项。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93F9F-E1A1-4864-984D-509B0496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48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DF4F2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6AAFF-CCEA-486D-BD14-389D991A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0ED6C-1FD2-479F-ADDF-F2C9FC5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交付目录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ACD02-FE3F-40D6-A29E-91DA39A9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01.code</a:t>
            </a:r>
          </a:p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02.data（说明，不携带数据集）</a:t>
            </a:r>
          </a:p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03.ppt</a:t>
            </a:r>
          </a:p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04.实训指导书</a:t>
            </a:r>
          </a:p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05.RAG语料</a:t>
            </a:r>
          </a:p>
          <a:p xmlns:a="http://schemas.openxmlformats.org/drawingml/2006/main">
            <a:pPr>
              <a:defRPr sz="1650" b="1">
                <a:solidFill>
                  <a:srgbClr val="084A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4A51"/>
                </a:solidFill>
                <a:latin typeface="Arial"/>
                <a:ea typeface="Arial"/>
                <a:cs typeface="Arial"/>
              </a:rPr>
              <a:t>部署版code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3815F-9F31-4698-A2DF-024FCEA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D7E2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4768C-6C3A-465F-9631-A2806931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FA08A-DAAE-451C-8CFE-A648A16A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5B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5B44"/>
                </a:solidFill>
                <a:latin typeface="Arial"/>
                <a:ea typeface="Arial"/>
                <a:cs typeface="Arial"/>
              </a:rPr>
              <a:t>已验证 / 待验证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282AB-075C-44E1-B481-39A0E30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4577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已验证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前端生产构建路径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后端编译与现有自动化测试入口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路由、目录和交付文件分层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待真实验收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OCR 到报告的真实样本链路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供应商模型与 API Key 可用性</a:t>
            </a:r>
          </a:p>
          <a:p xmlns:a="http://schemas.openxmlformats.org/drawingml/2006/main">
            <a:pPr>
              <a:defRPr sz="1350" b="0">
                <a:solidFill>
                  <a:srgbClr val="1E2A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2F"/>
                </a:solidFill>
                <a:latin typeface="Arial"/>
                <a:ea typeface="Arial"/>
                <a:cs typeface="Arial"/>
              </a:rPr>
              <a:t>• 生产服务器、HTTPS 与监控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10BAF-D14C-4714-8F90-C3802D9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7092F-BDB7-413C-8D82-38F2A842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177"/>
                </a:solidFill>
                <a:latin typeface="Arial"/>
                <a:ea typeface="Arial"/>
                <a:cs typeface="Arial"/>
              </a:rPr>
              <a:t>交付包：AI自动批改作业智能体-批小智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FF2BE-A305-4CC9-A74F-7C8C36C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1510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6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9932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2026-09-20T11:33:15.0860000Z</dcterms:created>
  <dcterms:modified xsi:type="dcterms:W3CDTF">2026-09-20T11:33:15.0860000Z</dcterms:modified>
</coreProperties>
</file>