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18120" y="0"/>
            <a:ext cx="4373849" cy="6858000"/>
          </a:xfrm>
          <a:prstGeom prst="rect">
            <a:avLst/>
          </a:prstGeom>
          <a:solidFill>
            <a:srgbClr val="1B3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052560" y="-1097280"/>
            <a:ext cx="3108960" cy="3108960"/>
          </a:xfrm>
          <a:prstGeom prst="ellipse">
            <a:avLst/>
          </a:prstGeom>
          <a:solidFill>
            <a:srgbClr val="244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149840" y="4572000"/>
            <a:ext cx="2377440" cy="2377440"/>
          </a:xfrm>
          <a:prstGeom prst="ellipse">
            <a:avLst/>
          </a:prstGeom>
          <a:solidFill>
            <a:srgbClr val="1A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121408"/>
            <a:ext cx="68580" cy="22860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170432"/>
            <a:ext cx="6949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7DD3FC"/>
                </a:solidFill>
                <a:latin typeface="Microsoft YaHei"/>
                <a:ea typeface="Microsoft YaHei"/>
                <a:cs typeface="Microsoft YaHei"/>
              </a:rPr>
              <a:t>实训项目 · AI 共创开发汇报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9848" y="1517904"/>
            <a:ext cx="7498079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D6E2F2"/>
                </a:solidFill>
                <a:latin typeface="Microsoft YaHei"/>
                <a:ea typeface="Microsoft YaHei"/>
                <a:cs typeface="Microsoft YaHei"/>
              </a:rPr>
              <a:t>AI 自动批改作业智能体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12848"/>
            <a:ext cx="6949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批 小 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10128"/>
            <a:ext cx="67665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>
                <a:solidFill>
                  <a:srgbClr val="BFD4EE"/>
                </a:solidFill>
                <a:latin typeface="Microsoft YaHei"/>
                <a:ea typeface="Microsoft YaHei"/>
                <a:cs typeface="Microsoft YaHei"/>
              </a:rPr>
              <a:t>面向个人教师的作业批改与复核工作台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93A9C6"/>
                </a:solidFill>
                <a:latin typeface="Microsoft YaHei"/>
                <a:ea typeface="Microsoft YaHei"/>
                <a:cs typeface="Microsoft YaHei"/>
              </a:rPr>
              <a:t>以可复用的评分标准为依据，把 OCR 识别、教师校对、规则评分、模型评分与教师复核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93A9C6"/>
                </a:solidFill>
                <a:latin typeface="Microsoft YaHei"/>
                <a:ea typeface="Microsoft YaHei"/>
                <a:cs typeface="Microsoft YaHei"/>
              </a:rPr>
              <a:t>组织为一条可查询、可重试、可追溯的工作流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5840" y="4498848"/>
            <a:ext cx="6903720" cy="566928"/>
          </a:xfrm>
          <a:prstGeom prst="roundRect">
            <a:avLst>
              <a:gd name="adj" fmla="val 16000"/>
            </a:avLst>
          </a:prstGeom>
          <a:solidFill>
            <a:srgbClr val="1C3863"/>
          </a:solidFill>
          <a:ln w="9525">
            <a:solidFill>
              <a:srgbClr val="2E5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25296" y="4681728"/>
            <a:ext cx="6492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BFD4EE"/>
                </a:solidFill>
                <a:latin typeface="Microsoft YaHei"/>
                <a:ea typeface="Microsoft YaHei"/>
                <a:cs typeface="Microsoft YaHei"/>
              </a:rPr>
              <a:t>登录 → 班级/学生 → 批次与文件 → OCR 与归属 → 教师校对 → 规则/模型评分 → 教师复核 → 报告导出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440680"/>
            <a:ext cx="69494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900" b="0">
                <a:solidFill>
                  <a:srgbClr val="7890B0"/>
                </a:solidFill>
                <a:latin typeface="Microsoft YaHei"/>
                <a:ea typeface="Microsoft YaHei"/>
                <a:cs typeface="Microsoft YaHei"/>
              </a:rPr>
              <a:t>项目交付包 · v1.0.0  |  内容依据：项目任务书 V1.0.0、PRD、UI/UX 设计文档、开发技术文档、验收资料</a:t>
            </a:r>
          </a:p>
          <a:p>
            <a:pPr algn="l">
              <a:lnSpc>
                <a:spcPct val="135000"/>
              </a:lnSpc>
            </a:pPr>
            <a:r>
              <a:rPr sz="900" b="0">
                <a:solidFill>
                  <a:srgbClr val="7890B0"/>
                </a:solidFill>
                <a:latin typeface="Microsoft YaHei"/>
                <a:ea typeface="Microsoft YaHei"/>
                <a:cs typeface="Microsoft YaHei"/>
              </a:rPr>
              <a:t>内容组织遵循项目 SKILL.md 实训指导书六段式规范（实训目标 / 实训内容 / 实训步骤 / 验证清单 / 故障排除 / 参考代码）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58521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E88AE"/>
                </a:solidFill>
                <a:latin typeface="Microsoft YaHei"/>
                <a:ea typeface="Microsoft YaHei"/>
                <a:cs typeface="Microsoft YaHei"/>
              </a:rPr>
              <a:t>01 / 37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46520" cy="68580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46520" y="0"/>
            <a:ext cx="574544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38928" y="822960"/>
            <a:ext cx="1051560" cy="1051560"/>
          </a:xfrm>
          <a:prstGeom prst="ellipse">
            <a:avLst/>
          </a:prstGeom>
          <a:solidFill>
            <a:srgbClr val="1B3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138928" y="448056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47088"/>
            <a:ext cx="4023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600" b="1">
                <a:solidFill>
                  <a:srgbClr val="2B59A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401568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项目背景与需求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114800"/>
            <a:ext cx="1371600" cy="4572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315968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A8BCD8"/>
                </a:solidFill>
                <a:latin typeface="Microsoft YaHei"/>
                <a:ea typeface="Microsoft YaHei"/>
                <a:cs typeface="Microsoft YaHei"/>
              </a:rPr>
              <a:t>教师作业批改的结构性痛点、产品定位、六大功能模块
以及从批次创建到报告导出的完整业务闭环。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46304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67728" y="1828799"/>
            <a:ext cx="4572000" cy="402336"/>
          </a:xfrm>
          <a:prstGeom prst="roundRect">
            <a:avLst>
              <a:gd name="adj" fmla="val 14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50608" y="18745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26096" y="18562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项目背景与需求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50608" y="23317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6096" y="23134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整体架构与技术选型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608" y="27889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6096" y="27706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AI 共创 PRD 文档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608" y="32461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6096" y="32278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AI 共创 UI/UX 文档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8" y="37033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6096" y="36850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核心功能模块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608" y="41605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6096" y="41422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核心技术实现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608" y="46177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6096" y="45994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验证、验收与交付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1722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D3DDE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1 章 · 项目背景与需求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项目背景：四类结构性痛点与 AI 侧解法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42415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每条左侧为任务书与 PRD 记录的现实问题，右侧为产品给出的对应机制；“事实”与“产品建议”分开标注。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4023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D3DDE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55096" cy="10972"/>
          </a:xfrm>
          <a:prstGeom prst="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47104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批小智 · AI 自动批改作业智能体  |  AI 共创开发汇报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547104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3 / 37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481328"/>
            <a:ext cx="5422392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481328"/>
            <a:ext cx="2711196" cy="1207008"/>
          </a:xfrm>
          <a:prstGeom prst="rect">
            <a:avLst/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609344"/>
            <a:ext cx="24185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批改负担重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1865376"/>
            <a:ext cx="241858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作业批改是教师最高频的教学负担：每周批改 5–10 次，每班 30–50 份；语文作文、英语翻译等主观题每份耗时 5–10 分钟，教师经常加班批改。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1004" y="1609344"/>
            <a:ext cx="24185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AI 批量预评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61004" y="1865376"/>
            <a:ext cx="241858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批量上传 + 持久化任务队列 + 客观题规则判分 + 主观题 AI 初评，把重复劳动前置到系统，教师只处理需要判断的部分。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73552" y="1481328"/>
            <a:ext cx="9144" cy="1207008"/>
          </a:xfrm>
          <a:prstGeom prst="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199632" y="1481328"/>
            <a:ext cx="5422392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99632" y="1481328"/>
            <a:ext cx="2711196" cy="1207008"/>
          </a:xfrm>
          <a:prstGeom prst="rect">
            <a:avLst/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82512" y="1609344"/>
            <a:ext cx="24185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尺度不统一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1865376"/>
            <a:ext cx="241858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人工批改尺度难以统一，同一批次内存在尺度漂移，学生容易质疑评分公平性。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93708" y="1609344"/>
            <a:ext cx="24185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评分标准知识库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3708" y="1865376"/>
            <a:ext cx="241858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评分点、分值分配与示例作答构成可复用、可版本化的评分标准，批改时作为上下文注入提示词，保障尺度一致。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906256" y="1481328"/>
            <a:ext cx="9144" cy="1207008"/>
          </a:xfrm>
          <a:prstGeom prst="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566928" y="2862072"/>
            <a:ext cx="5422392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2862072"/>
            <a:ext cx="2711196" cy="1207008"/>
          </a:xfrm>
          <a:prstGeom prst="rect">
            <a:avLst/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2990088"/>
            <a:ext cx="24185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工具门槛高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8" y="3246120"/>
            <a:ext cx="241858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现有扫描阅卷系统成本高、部署复杂，个人教师难以使用，面向个人教师的轻量 AI 批改工具仍属空白。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61004" y="2990088"/>
            <a:ext cx="24185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浏览器轻量接入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61004" y="3246120"/>
            <a:ext cx="241858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前后端分离的 B/S 应用，教师通过浏览器完成上传、校对与查看，无需采购昂贵的专用阅卷设备。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73552" y="2862072"/>
            <a:ext cx="9144" cy="1207008"/>
          </a:xfrm>
          <a:prstGeom prst="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199632" y="2862072"/>
            <a:ext cx="5422392" cy="120700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99632" y="2862072"/>
            <a:ext cx="2711196" cy="1207008"/>
          </a:xfrm>
          <a:prstGeom prst="rect">
            <a:avLst/>
          </a:prstGeom>
          <a:solidFill>
            <a:srgbClr val="FFF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82512" y="2990088"/>
            <a:ext cx="24185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过程不可追溯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3246120"/>
            <a:ext cx="241858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AI 结果若缺少依据，教师不敢用于正式成绩；识别失败容易被误当为学生未作答。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93708" y="2990088"/>
            <a:ext cx="24185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证据链留痕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93708" y="3246120"/>
            <a:ext cx="2418588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原图、OCR 文本、评分依据、规则/模型版本与复核记录全部落库；OCR 失败不等于空题，AI 结果只是建议。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906256" y="2862072"/>
            <a:ext cx="9144" cy="1207008"/>
          </a:xfrm>
          <a:prstGeom prst="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66928" y="4315968"/>
            <a:ext cx="11055096" cy="566928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9525">
            <a:solidFill>
              <a:srgbClr val="C7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" y="4443984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产品定位：</a:t>
            </a:r>
            <a:r>
              <a:rPr sz="1100" b="0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面向国内个人教师的作业批改与复核工作台 —— 以可复用的评分标准为依据，帮助教师完成整批作业的识别校对、逐题评分、异常处理和成绩报告输出。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5047488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核心价值主张：批改效率（异步处理、客观题自动判分）· 结果可控（原图/OCR/依据/结果可对照）· 评分一致（版本化评分标准）· 班级洞察（个人与班级统计）· 数据合规（调用前脱敏、AI 结果显著标识）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1 章 · 项目背景与需求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功能需求：六大核心模块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42415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模块划分与任务书 2.2 具体目标逐项对应；编号体系沿用 PRD 的 HM / OCR / GRD / RUB / RPT 需求族。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4023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D3DDE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55096" cy="10972"/>
          </a:xfrm>
          <a:prstGeom prst="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47104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批小智 · AI 自动批改作业智能体  |  AI 共创开发汇报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547104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4 / 37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536192"/>
            <a:ext cx="3529584" cy="20848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536192"/>
            <a:ext cx="50292" cy="2084831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682496"/>
            <a:ext cx="3145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HM · 作业管理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029968"/>
            <a:ext cx="3145536" cy="14813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班级与学生维护，作业批次（学科 / 题型 / 总分）创建与草稿回填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参考答案与评分标准按题号绑定，分值合计强校验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JPG / PNG / PDF 批量上传，逐文件状态与失败重试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question_paper 与 student_work 文件角色严格区分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9684" y="1536192"/>
            <a:ext cx="3529584" cy="20848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9684" y="1536192"/>
            <a:ext cx="50292" cy="2084831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0852" y="1682496"/>
            <a:ext cx="3145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OCR · 识别与校对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0852" y="2029968"/>
            <a:ext cx="3145536" cy="14813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方向校正、去噪与版面预处理，原图只读不被覆盖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输出带页码、坐标与置信度的文本块，可定位原图区域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原图与识别文本对照校对，保存修改人、时间与版本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上传图片一键识别题目数量与客观 / 主观题型建议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1536192"/>
            <a:ext cx="3529584" cy="20848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1536192"/>
            <a:ext cx="50292" cy="2084831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1682496"/>
            <a:ext cx="3145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GRP · 学生作业归属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2029968"/>
            <a:ext cx="3145536" cy="14813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多个多页文件归并为一个学生作业对象后再进入 OCR 与批改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保留 page_index / page_sequence / 分组置信度与归属依据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首次归并、标识冲突、页序异常均设人工确认点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失败兜底：拆分、合并、重排页序、暂存草稿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3822191"/>
            <a:ext cx="3529584" cy="20848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3822191"/>
            <a:ext cx="50292" cy="2084831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3968495"/>
            <a:ext cx="3145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GRD · 智能批改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8096" y="4315967"/>
            <a:ext cx="3145536" cy="14813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按题型分派：客观题走规则引擎，主观题走模型评分流程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客观题按参考答案与容错规则判分，记录规则版本与判分理由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主观题输出分项分数、引用证据、扣分原因与评语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低置信度、疑似空题、缺页、未匹配自动标注并进入异常队列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29684" y="3822191"/>
            <a:ext cx="3529584" cy="20848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29684" y="3822191"/>
            <a:ext cx="50292" cy="2084831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30852" y="3968495"/>
            <a:ext cx="3145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RUB · 评分标准知识库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30852" y="4315967"/>
            <a:ext cx="3145536" cy="14813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按学科与题型维护，支持创建、编辑、停用与查看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评分点分值合计必须等于题目总分，示例作答可关联评分点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编辑即版本递增，历史批次保留原绑定版本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标准变更只使受影响题目失效，未受影响题目不被无故重跑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92440" y="3822191"/>
            <a:ext cx="3529584" cy="208483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092440" y="3822191"/>
            <a:ext cx="50292" cy="2084831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93608" y="3968495"/>
            <a:ext cx="3145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RPT · 报告与导出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93608" y="4315967"/>
            <a:ext cx="3145536" cy="148132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个人成绩单与班级成绩统计，正式口径只统计整份已复核结果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得分分布、高频错误与薄弱项（有真实数据时展示）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reviewed 与 ai_preview 双口径分离，后者显著标注非正式成绩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PDF / Word 队列化导出，失败保留原因与重试入口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1 章 · 项目背景与需求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核心业务流程：六阶段闭环与可回退点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42415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每个阶段都有明确的教师动作、系统处理与回退路径；不存在“提交后无法回头”的不可逆步骤。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4023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D3DDE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55096" cy="10972"/>
          </a:xfrm>
          <a:prstGeom prst="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47104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批小智 · AI 自动批改作业智能体  |  AI 共创开发汇报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547104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5 / 37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481328"/>
            <a:ext cx="1673352" cy="457200"/>
          </a:xfrm>
          <a:prstGeom prst="roundRect">
            <a:avLst>
              <a:gd name="adj" fmla="val 16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595628"/>
            <a:ext cx="1673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 创建批次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53996" y="1572768"/>
            <a:ext cx="146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04872" y="1481328"/>
            <a:ext cx="1673352" cy="457200"/>
          </a:xfrm>
          <a:prstGeom prst="roundRect">
            <a:avLst>
              <a:gd name="adj" fmla="val 16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1595628"/>
            <a:ext cx="1673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 上传采集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91940" y="1572768"/>
            <a:ext cx="146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42816" y="1481328"/>
            <a:ext cx="1673352" cy="457200"/>
          </a:xfrm>
          <a:prstGeom prst="roundRect">
            <a:avLst>
              <a:gd name="adj" fmla="val 16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2816" y="1595628"/>
            <a:ext cx="1673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 识别校对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29884" y="1572768"/>
            <a:ext cx="146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80760" y="1481328"/>
            <a:ext cx="1673352" cy="457200"/>
          </a:xfrm>
          <a:prstGeom prst="roundRect">
            <a:avLst>
              <a:gd name="adj" fmla="val 16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80760" y="1595628"/>
            <a:ext cx="1673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 AI 批改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67828" y="1572768"/>
            <a:ext cx="146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918704" y="1481328"/>
            <a:ext cx="1673352" cy="457200"/>
          </a:xfrm>
          <a:prstGeom prst="roundRect">
            <a:avLst>
              <a:gd name="adj" fmla="val 16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18704" y="1595628"/>
            <a:ext cx="1673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 教师复核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5772" y="1572768"/>
            <a:ext cx="146304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56648" y="1481328"/>
            <a:ext cx="1673352" cy="457200"/>
          </a:xfrm>
          <a:prstGeom prst="roundRect">
            <a:avLst>
              <a:gd name="adj" fmla="val 16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56648" y="1595628"/>
            <a:ext cx="167335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06 报告与导出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121408"/>
            <a:ext cx="891540" cy="310896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阶段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458468" y="2121408"/>
            <a:ext cx="3655314" cy="310896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教师操作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13782" y="2121408"/>
            <a:ext cx="3477006" cy="310896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系统处理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590788" y="2121408"/>
            <a:ext cx="3031236" cy="310896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1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可回退点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2432304"/>
            <a:ext cx="891540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1 创建批次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458468" y="2432304"/>
            <a:ext cx="3655314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选择班级、学科、题型，按题号录入参考答案与评分标准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113782" y="2432304"/>
            <a:ext cx="3477006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生成批次与评分标准版本快照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590788" y="2432304"/>
            <a:ext cx="3031236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支持仅保存草稿，草稿可重新打开编辑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2830068"/>
            <a:ext cx="891540" cy="39776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2 上传采集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458468" y="2830068"/>
            <a:ext cx="3655314" cy="39776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先选择所属批次，再选择 JPG / PNG / PDF，查看逐文件进度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113782" y="2830068"/>
            <a:ext cx="3477006" cy="39776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校验格式、大小、文件内容与数量，保存原文件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90788" y="2830068"/>
            <a:ext cx="3031236" cy="39776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失败文件单独重试，不影响同批次其他文件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3227832"/>
            <a:ext cx="891540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3 识别校对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458468" y="3227832"/>
            <a:ext cx="3655314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对照原图修正学生归属、页序、题号与答案文本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113782" y="3227832"/>
            <a:ext cx="3477006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预处理、版面分析、OCR 与置信度计算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590788" y="3227832"/>
            <a:ext cx="3031236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保留原始 OCR，教师修正形成新版本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3625596"/>
            <a:ext cx="891540" cy="39776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4 AI 批改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458468" y="3625596"/>
            <a:ext cx="3655314" cy="39776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发起批改或仅对待重批题目选择部分重跑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13782" y="3625596"/>
            <a:ext cx="3477006" cy="39776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题型分派、规则评分、模型评分与评语、异常标记</a:t>
            </a:r>
          </a:p>
        </p:txBody>
      </p:sp>
      <p:sp>
        <p:nvSpPr>
          <p:cNvPr id="47" name="Rectangle 46"/>
          <p:cNvSpPr/>
          <p:nvPr/>
        </p:nvSpPr>
        <p:spPr>
          <a:xfrm>
            <a:off x="8590788" y="3625596"/>
            <a:ext cx="3031236" cy="39776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只重跑受影响题目及其汇总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023360"/>
            <a:ext cx="891540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5 教师复核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458468" y="4023360"/>
            <a:ext cx="3655314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处理异常、调整分数与评语、逐题确认结果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113782" y="4023360"/>
            <a:ext cx="3477006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记录复核人、时间、修改前后值与原因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590788" y="4023360"/>
            <a:ext cx="3031236" cy="39776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复核前可回到校对或重新初评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" y="4421124"/>
            <a:ext cx="891540" cy="39776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6 报告导出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458468" y="4421124"/>
            <a:ext cx="3655314" cy="39776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查看个人成绩单与班级统计，选择导出格式</a:t>
            </a:r>
          </a:p>
        </p:txBody>
      </p:sp>
      <p:sp>
        <p:nvSpPr>
          <p:cNvPr id="54" name="Rectangle 53"/>
          <p:cNvSpPr/>
          <p:nvPr/>
        </p:nvSpPr>
        <p:spPr>
          <a:xfrm>
            <a:off x="5113782" y="4421124"/>
            <a:ext cx="3477006" cy="39776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汇总已复核结果，生成 PDF / Word 文件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590788" y="4421124"/>
            <a:ext cx="3031236" cy="39776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结果失效即退出正式报告，直到重新复核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2121408"/>
            <a:ext cx="11055096" cy="2697480"/>
          </a:xfrm>
          <a:prstGeom prst="rect">
            <a:avLst/>
          </a:prstGeom>
          <a:noFill/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Rounded Rectangle 56"/>
          <p:cNvSpPr/>
          <p:nvPr/>
        </p:nvSpPr>
        <p:spPr>
          <a:xfrm>
            <a:off x="566928" y="5029200"/>
            <a:ext cx="11055096" cy="566928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9525">
            <a:solidFill>
              <a:srgbClr val="F5D0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8096" y="5148072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结果控制五原则：</a:t>
            </a:r>
            <a:r>
              <a:rPr sz="1000" b="0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① OCR 失败不等于空题　② 相似度提示不等于抄袭结论　③ AI 评分只能标记为“建议 / 待复核”　④ 教师确认后才进入最终成绩　⑤ 评分标准或 OCR 文本修改后只重新计算受影响题目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1 章 · 项目背景与需求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实现效果（一）：作业批次与班级管理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42415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页面截图取自项目内已实现的教师工作台；表格只展示后端返回的真实字段，不填充假进度与假人数。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4023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D3DDE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55096" cy="10972"/>
          </a:xfrm>
          <a:prstGeom prst="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47104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批小智 · AI 自动批改作业智能体  |  AI 共创开发汇报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547104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6 / 37</a:t>
            </a:r>
          </a:p>
        </p:txBody>
      </p:sp>
      <p:pic>
        <p:nvPicPr>
          <p:cNvPr id="11" name="Picture 10" descr="prototype-audit-desk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2768"/>
            <a:ext cx="6903720" cy="479425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566928" y="1572768"/>
            <a:ext cx="6903720" cy="4791456"/>
          </a:xfrm>
          <a:prstGeom prst="rect">
            <a:avLst/>
          </a:prstGeom>
          <a:noFill/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680960" y="1572768"/>
            <a:ext cx="3941064" cy="1143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80960" y="1572768"/>
            <a:ext cx="50292" cy="1143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82128" y="1719072"/>
            <a:ext cx="35570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批次与班级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2128" y="2066544"/>
            <a:ext cx="3557016" cy="539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布局　</a:t>
            </a: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左侧固定侧栏（工作台 / 作业管理 / 智能批改 / 评分标准 / 批改报告 / 设置）+ 顶部搜索与面包屑 + 主内容区。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主操作　</a:t>
            </a: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页面右上角唯一主 CTA「创建批次」，次级操作为「选择批次并上传」「管理班级与学生」。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80960" y="2825496"/>
            <a:ext cx="3941064" cy="15361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80960" y="2825496"/>
            <a:ext cx="50292" cy="153619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82128" y="2971800"/>
            <a:ext cx="35570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列表与筛选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82128" y="3319272"/>
            <a:ext cx="3557016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筛选　</a:t>
            </a: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搜索覆盖批次名称、批次 ID、班级、学科与学生；状态与学科为独立下拉，支持结果计数与一键重置。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行状态　</a:t>
            </a: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待校对、待批改等状态直接决定行内操作按钮：待校对进入 OCR 页面，待批改进入批改页面。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真实性　</a:t>
            </a: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不再展示没有后端依据的假进度、假人数、假异常数；未知值显示“待统计 / 待读取”。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80960" y="4471416"/>
            <a:ext cx="3941064" cy="189280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80960" y="4471416"/>
            <a:ext cx="50292" cy="1892807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82128" y="4617720"/>
            <a:ext cx="35570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上传与归属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2128" y="4965192"/>
            <a:ext cx="3557016" cy="128930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文件角色　</a:t>
            </a: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question_paper（题干 / 参考答案）与 student_work（学生作业）分开上传与统计，不能混用。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归属说明　</a:t>
            </a: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自动归属依据、人工确认点与失败兜底在页面内显式说明，避免教师误以为系统已静默合并。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进度反馈　</a:t>
            </a: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单文件独立显示等待、校验、保存、成功、失败与重试状态；OCR 任务按 1.2 秒轮询展示阶段、页数与百分比。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1 章 · 项目背景与需求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实现效果（二）：OCR 校对、智能批改与报告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42415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三个高风险页面统一遵循“证据链优先”：学生作答 → OCR 文本 → 参考答案/评分标准 → AI 建议 → 教师结论。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4023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D3DDE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55096" cy="10972"/>
          </a:xfrm>
          <a:prstGeom prst="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47104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批小智 · AI 自动批改作业智能体  |  AI 共创开发汇报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547104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7 / 37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536192"/>
            <a:ext cx="3529584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536192"/>
            <a:ext cx="50292" cy="3675887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682496"/>
            <a:ext cx="3145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OCR 校对页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029968"/>
            <a:ext cx="3145536" cy="30723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0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桌面布局　</a:t>
            </a:r>
            <a:r>
              <a:rPr sz="10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左右分栏：左侧原图只读预览与页面列表，右侧学生归属、页序与逐题答案编辑区。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0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移动端　</a:t>
            </a:r>
            <a:r>
              <a:rPr sz="10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改为分段标签「原图 / 答案与归属 / 题目列表」，底部固定“保存草稿 / 确认本页”操作栏。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0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校对约束　</a:t>
            </a:r>
            <a:r>
              <a:rPr sz="10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有文本时不能同时勾选“确认未作答”；页序必须为正整数且同一学生不重复；跨页答案按 page_sequence 拼接。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9684" y="1536192"/>
            <a:ext cx="3529584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9684" y="1536192"/>
            <a:ext cx="50292" cy="3675887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30852" y="1682496"/>
            <a:ext cx="3145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智能批改与教师复核页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0852" y="2029968"/>
            <a:ext cx="3145536" cy="30723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0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队列　</a:t>
            </a:r>
            <a:r>
              <a:rPr sz="10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左侧复核队列异常优先，支持学生 / 学号 / 题号搜索、仅异常过滤与上下条切换。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0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详情　</a:t>
            </a:r>
            <a:r>
              <a:rPr sz="10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右侧按证据链顺序展示；客观题显示参考答案、规则版本与判分理由，主观题显示评分点、证据与扣分原因。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0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动作分离　</a:t>
            </a:r>
            <a:r>
              <a:rPr sz="10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「保存待复核」不等于「确认本题」；确认后自动定位下一条未复核题，且不提供“接受全部 AI 结果”按钮。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2440" y="1536192"/>
            <a:ext cx="3529584" cy="367588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2440" y="1536192"/>
            <a:ext cx="50292" cy="3675887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1682496"/>
            <a:ext cx="3145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批改报告页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2029968"/>
            <a:ext cx="3145536" cy="30723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0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范围与口径　</a:t>
            </a:r>
            <a:r>
              <a:rPr sz="10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批次范围与统计口径（教师已复核 / AI 初评参考）显式切换，不同口径使用不同状态说明。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0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图表　</a:t>
            </a:r>
            <a:r>
              <a:rPr sz="10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得分分布使用横向条形图并直接显示人数，同时提供文本摘要与表格替代，无数据时显示空状态。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0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个人成绩单　</a:t>
            </a:r>
            <a:r>
              <a:rPr sz="10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从列表可进入详情，回看作业原图、逐题结果、AI 评价与教师评语，可直接跳转复核页。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394960"/>
            <a:ext cx="11055096" cy="65836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" y="5513832"/>
            <a:ext cx="10607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交互状态硬约束：</a:t>
            </a:r>
            <a:r>
              <a:rPr sz="10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所有长任务必须显示等待 / 处理中 / 成功 / 部分失败 / 失败；异步按钮期间禁止重复提交；删除、重跑、放弃编辑与修改已复核结果都要二次确认；AI 内容必须显著标识“AI 生成，教师复核后生效”。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46520" cy="68580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46520" y="0"/>
            <a:ext cx="574544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38928" y="822960"/>
            <a:ext cx="1051560" cy="1051560"/>
          </a:xfrm>
          <a:prstGeom prst="ellipse">
            <a:avLst/>
          </a:prstGeom>
          <a:solidFill>
            <a:srgbClr val="1B3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138928" y="448056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47088"/>
            <a:ext cx="4023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600" b="1">
                <a:solidFill>
                  <a:srgbClr val="2B59A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401568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整体架构与技术选型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114800"/>
            <a:ext cx="1371600" cy="4572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315968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A8BCD8"/>
                </a:solidFill>
                <a:latin typeface="Microsoft YaHei"/>
                <a:ea typeface="Microsoft YaHei"/>
                <a:cs typeface="Microsoft YaHei"/>
              </a:rPr>
              <a:t>前后端分离 + 持久化任务队列 + LangGraph 编排，
以及业务对象、状态机与验收口径的统一定义。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46304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0608" y="18745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6096" y="18562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项目背景与需求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67728" y="2285999"/>
            <a:ext cx="4572000" cy="402336"/>
          </a:xfrm>
          <a:prstGeom prst="roundRect">
            <a:avLst>
              <a:gd name="adj" fmla="val 14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50608" y="23317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6096" y="23134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整体架构与技术选型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0608" y="27889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6096" y="27706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AI 共创 PRD 文档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608" y="32461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6096" y="32278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AI 共创 UI/UX 文档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8" y="37033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6096" y="36850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核心功能模块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608" y="41605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6096" y="41422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核心技术实现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608" y="46177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6096" y="45994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验证、验收与交付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1722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D3DDE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2 章 · 整体架构与技术选型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系统架构设计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42415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五层结构自上而下收敛：教师操作留在前端，不确定性收敛为可查询的后端任务，证据全部落库。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4023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D3DDE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55096" cy="10972"/>
          </a:xfrm>
          <a:prstGeom prst="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47104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批小智 · AI 自动批改作业智能体  |  AI 共创开发汇报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547104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9 / 37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536192"/>
            <a:ext cx="11055096" cy="75895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536192"/>
            <a:ext cx="54864" cy="7589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1636776"/>
            <a:ext cx="10607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教师端展示层  ·  React + TypeScript + Vite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1901952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工作台 · 作业管理 · 批次配置 · OCR 校对 · 智能批改与复核 · 评分标准 · 批改报告 · 设置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2295144"/>
            <a:ext cx="1828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B9C8DC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386584"/>
            <a:ext cx="11055096" cy="75895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386584"/>
            <a:ext cx="54864" cy="758952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6384" y="2487168"/>
            <a:ext cx="10607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API 应用层  ·  FastAPI  /api/v1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2752344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认证 · 班级学生 · 批次题目 · 文件与页面 · OCR · 批改 · 复核 · 报告导出 · 设置（统一 request_id 与错误码）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3145536"/>
            <a:ext cx="1828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B9C8DC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236976"/>
            <a:ext cx="11055096" cy="75895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3236976"/>
            <a:ext cx="54864" cy="758952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3337560"/>
            <a:ext cx="10607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任务与编排层  ·  持久化任务表 + Worker + LangGraph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3602736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OCR 图 / 批改图 / 导出 Worker；任务领取、锁定、心跳、超时恢复、有限重试、部分重跑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995928"/>
            <a:ext cx="1828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B9C8DC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4087368"/>
            <a:ext cx="11055096" cy="75895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4087368"/>
            <a:ext cx="54864" cy="7589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4187952"/>
            <a:ext cx="10607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识别与评分层  ·  OpenCV/PIL + OCR 模型 + 规则引擎 + LLM 适配器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4453128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PaddleOCR / PP-OCRv5 / TrOCR / TexTeller / ch_SVTRv2_rec；Python 规则引擎；OpenAI 兼容模型适配器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4846320"/>
            <a:ext cx="182880" cy="1463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700" b="1">
                <a:solidFill>
                  <a:srgbClr val="B9C8DC"/>
                </a:solidFill>
                <a:latin typeface="Microsoft YaHei"/>
                <a:ea typeface="Microsoft YaHei"/>
                <a:cs typeface="Microsoft YaHei"/>
              </a:rPr>
              <a:t>▼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937760"/>
            <a:ext cx="11055096" cy="75895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4937760"/>
            <a:ext cx="54864" cy="758952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" y="5038344"/>
            <a:ext cx="106070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数据与文件层  ·  SQLite + Alembic + 服务端文件存储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" y="5303520"/>
            <a:ext cx="10607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原图与 PDF · 预处理图 · OCR 原始结果 · 答案版本 · 评分结果 · 复核记录 · 导出文件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66928" y="5824728"/>
            <a:ext cx="3529584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66928" y="5824728"/>
            <a:ext cx="50292" cy="102412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68096" y="5971032"/>
            <a:ext cx="3145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前后端分离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8096" y="6318504"/>
            <a:ext cx="314553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前端只负责教师操作与状态呈现；后端负责权限、资源、任务与算法，接口契约由 Pydantic 模型统一。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329684" y="5824728"/>
            <a:ext cx="3529584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29684" y="5824728"/>
            <a:ext cx="50292" cy="102412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30852" y="5971032"/>
            <a:ext cx="3145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任务持久化与可恢复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30852" y="6318504"/>
            <a:ext cx="314553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上传、OCR、批改、导出统一使用任务记录；刷新页面不丢任务，Worker 重启可恢复超时锁定任务。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092440" y="5824728"/>
            <a:ext cx="3529584" cy="10241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92440" y="5824728"/>
            <a:ext cx="50292" cy="1024128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293608" y="5971032"/>
            <a:ext cx="3145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证据链可追溯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93608" y="6318504"/>
            <a:ext cx="3145536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任意得分都可回溯到批次、学生、题目、答案版本、评分标准版本与规则/模型版本。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2 章 · 整体架构与技术选型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技术栈选型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42415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选型依据任务书第 3 章技术方案；实际实现中的补充项（TypeScript、SQLAlchemy/Alembic、队列方案）标注为工程建议。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4023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D3DDE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55096" cy="10972"/>
          </a:xfrm>
          <a:prstGeom prst="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47104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批小智 · AI 自动批改作业智能体  |  AI 共创开发汇报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547104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10 / 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17904"/>
            <a:ext cx="5120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前端技术栈（Frontend）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92224"/>
            <a:ext cx="1362301" cy="27432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29229" y="1792224"/>
            <a:ext cx="1089840" cy="27432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019069" y="1792224"/>
            <a:ext cx="2906242" cy="27432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选型理由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066544"/>
            <a:ext cx="1362301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React 18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29229" y="2066544"/>
            <a:ext cx="10898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UI 框架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9069" y="2066544"/>
            <a:ext cx="2906242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组件化开发，生态丰富；与任务书指定一致。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450592"/>
            <a:ext cx="1362301" cy="3840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TypeScript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929229" y="2450592"/>
            <a:ext cx="1089840" cy="3840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类型系统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019069" y="2450592"/>
            <a:ext cx="2906242" cy="3840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静态类型检查，降低前后端契约错位风险。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834640"/>
            <a:ext cx="1362301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Vite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29229" y="2834640"/>
            <a:ext cx="10898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构建工具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9069" y="2834640"/>
            <a:ext cx="2906242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冷启动与热更新快；构建即执行 tsc 检查。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218688"/>
            <a:ext cx="1362301" cy="3840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普通 CSS + 设计 token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29229" y="3218688"/>
            <a:ext cx="1089840" cy="3840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样式体系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019069" y="3218688"/>
            <a:ext cx="2906242" cy="3840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颜色 / 字号 / 间距收敛为语义 token，避免散落硬编码。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602736"/>
            <a:ext cx="1362301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Phosphor Icons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29229" y="3602736"/>
            <a:ext cx="108984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图标体系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9069" y="3602736"/>
            <a:ext cx="2906242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统一 SVG 图标库，不使用 Emoji 充当结构性图标。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1792224"/>
            <a:ext cx="5358384" cy="2194560"/>
          </a:xfrm>
          <a:prstGeom prst="rect">
            <a:avLst/>
          </a:prstGeom>
          <a:noFill/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54496" y="1517904"/>
            <a:ext cx="5120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后端技术栈（Backend）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54496" y="1792224"/>
            <a:ext cx="1455600" cy="27432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技术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710096" y="1792224"/>
            <a:ext cx="1091700" cy="27432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用途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801797" y="1792224"/>
            <a:ext cx="2820226" cy="27432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选型理由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54496" y="2066544"/>
            <a:ext cx="1455600" cy="2880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Python 3.12+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710096" y="2066544"/>
            <a:ext cx="1091700" cy="2880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开发语言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801797" y="2066544"/>
            <a:ext cx="2820226" cy="2880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OCR、图像处理与规则引擎生态完整。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54496" y="2354580"/>
            <a:ext cx="1455600" cy="288036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FastAPI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10096" y="2354580"/>
            <a:ext cx="1091700" cy="288036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Web 框架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01797" y="2354580"/>
            <a:ext cx="2820226" cy="288036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异步 REST API，自动生成 OpenAPI 便于契约核对。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254496" y="2642616"/>
            <a:ext cx="1455600" cy="2880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SQLAlchemy 2.x + Alembic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710096" y="2642616"/>
            <a:ext cx="1091700" cy="2880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ORM 与迁移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801797" y="2642616"/>
            <a:ext cx="2820226" cy="2880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模型、事务与版本化迁移；alembic check 可校验。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254496" y="2930652"/>
            <a:ext cx="1455600" cy="288036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LangGraph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710096" y="2930652"/>
            <a:ext cx="1091700" cy="288036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流程编排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801797" y="2930652"/>
            <a:ext cx="2820226" cy="288036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OCR 与批改的多节点编排，支持人工暂停节点。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54496" y="3218688"/>
            <a:ext cx="1455600" cy="2880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OpenCV / PIL + PaddleOCR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710096" y="3218688"/>
            <a:ext cx="1091700" cy="2880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预处理与识别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801797" y="3218688"/>
            <a:ext cx="2820226" cy="2880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原图只读，预处理另存，识别结果带坐标与置信度。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254496" y="3506724"/>
            <a:ext cx="1455600" cy="288036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Python 规则引擎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710096" y="3506724"/>
            <a:ext cx="1091700" cy="288036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客观题判分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801797" y="3506724"/>
            <a:ext cx="2820226" cy="288036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规则必须版本化，判分理由可追溯。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54496" y="3794760"/>
            <a:ext cx="1455600" cy="2880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OpenAI 兼容 LLM</a:t>
            </a:r>
          </a:p>
        </p:txBody>
      </p:sp>
      <p:sp>
        <p:nvSpPr>
          <p:cNvPr id="54" name="Rectangle 53"/>
          <p:cNvSpPr/>
          <p:nvPr/>
        </p:nvSpPr>
        <p:spPr>
          <a:xfrm>
            <a:off x="7710096" y="3794760"/>
            <a:ext cx="1091700" cy="2880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主观题评分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801797" y="3794760"/>
            <a:ext cx="2820226" cy="2880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供应商、Base URL、模型名可配置，不写死单一供应商。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254496" y="4082796"/>
            <a:ext cx="1455600" cy="288036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SQLite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710096" y="4082796"/>
            <a:ext cx="1091700" cy="288036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数据库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801797" y="4082796"/>
            <a:ext cx="2820226" cy="288036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单教师单机交付边界；并发上限需性能测试校准。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254496" y="1792224"/>
            <a:ext cx="5367528" cy="2578608"/>
          </a:xfrm>
          <a:prstGeom prst="rect">
            <a:avLst/>
          </a:prstGeom>
          <a:noFill/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566928" y="5358384"/>
            <a:ext cx="11055096" cy="68580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9525">
            <a:solidFill>
              <a:srgbClr val="C7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68096" y="5468112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选型总结：</a:t>
            </a:r>
            <a:r>
              <a:rPr sz="1000" b="0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采用“前后端分离 + 持久化任务队列 + LangGraph 编排”的组合。前端聚焦教师操作与状态呈现，后端把 OCR、规则评分、模型评分与报告导出统一收敛为可查询、可重试、可追溯的异步任务；模型供应商不写死，API Key 只由后端在运行时读取。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2 章 · 整体架构与技术选型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业务对象与状态设计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42415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所有可编辑对象带 version 乐观锁；多标签页覆盖返回 409 RESOURCE_VERSION_CONFLICT，避免旧页面覆盖新数据。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4023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D3DDEC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55096" cy="10972"/>
          </a:xfrm>
          <a:prstGeom prst="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47104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批小智 · AI 自动批改作业智能体  |  AI 共创开发汇报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547104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11 / 37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536192"/>
            <a:ext cx="4791456" cy="4480560"/>
          </a:xfrm>
          <a:prstGeom prst="roundRect">
            <a:avLst>
              <a:gd name="adj" fmla="val 5000"/>
            </a:avLst>
          </a:prstGeom>
          <a:solidFill>
            <a:srgbClr val="10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664208"/>
            <a:ext cx="442569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7DD3FC"/>
                </a:solidFill>
                <a:latin typeface="Microsoft YaHei"/>
                <a:ea typeface="Microsoft YaHei"/>
                <a:cs typeface="Microsoft YaHei"/>
              </a:rPr>
              <a:t>核心对象关系（SQLite / SQLAlchemy）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901952"/>
            <a:ext cx="4462272" cy="4005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User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├── Class ── Student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└── AssignmentBatch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├── BatchQuestion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│     └── RubricVersion ── RubricPoint / Example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├── SourceFile ── SourcePage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│     └── PageGrouping ── AssignmentGroup ── Student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│            └── AnswerVersion ── QuestionAnswer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├── OcrRun ── OcrBlock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├── GradingRun ── GradingTask ── GradingResult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│                       └── GradingPointResult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├── Anomaly / ReviewRecord / AuditLog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├── AppSettings（模型、存储、队列与并发）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└── ReportExport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# 结果失效输入指纹（任一变化即失效）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题目配置版本 + 当前答案版本 + 评分标准版本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+ 规则版本 + 模型版本 + 提示词版本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14416" y="1517904"/>
            <a:ext cx="60076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批次状态机（12 态）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14416" y="1773936"/>
            <a:ext cx="60076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draft 草稿 → uploading 上传中 → pending_ocr 待识别 → ocr_processing 识别中 → pending_correction 待校对 → pending_grading 待批改 → grading 批改中 → pending_review 待复核 → reviewed 已复核</a:t>
            </a:r>
          </a:p>
          <a:p>
            <a:pPr algn="l">
              <a:lnSpc>
                <a:spcPct val="125000"/>
              </a:lnSpc>
            </a:pPr>
            <a:r>
              <a:rPr sz="9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旁支：partial_failure 部分失败 / stale 待重批 / archived 已归档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14416" y="2450592"/>
            <a:ext cx="2431650" cy="29260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l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结果状态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066" y="2450592"/>
            <a:ext cx="1716459" cy="29260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l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62526" y="2450592"/>
            <a:ext cx="1859497" cy="29260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l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是否进入正式报告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14416" y="2743200"/>
            <a:ext cx="243165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l"/>
            <a:r>
              <a:rPr sz="9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suggested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066" y="2743200"/>
            <a:ext cx="1716459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l"/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AI / 规则建议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762526" y="2743200"/>
            <a:ext cx="1859497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l"/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14416" y="3035808"/>
            <a:ext cx="2431650" cy="29260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l"/>
            <a:r>
              <a:rPr sz="9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pending_review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046066" y="3035808"/>
            <a:ext cx="1716459" cy="29260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l"/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待复核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762526" y="3035808"/>
            <a:ext cx="1859497" cy="29260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l"/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14416" y="3328416"/>
            <a:ext cx="243165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l"/>
            <a:r>
              <a:rPr sz="9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teacher_saved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46066" y="3328416"/>
            <a:ext cx="1716459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l"/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已保存未确认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762526" y="3328416"/>
            <a:ext cx="1859497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l"/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14416" y="3621024"/>
            <a:ext cx="2431650" cy="29260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l"/>
            <a:r>
              <a:rPr sz="9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reviewed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066" y="3621024"/>
            <a:ext cx="1716459" cy="29260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l"/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教师已确认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762526" y="3621024"/>
            <a:ext cx="1859497" cy="29260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l"/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仅整份作业满足条件时是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14416" y="3913632"/>
            <a:ext cx="2431650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l"/>
            <a:r>
              <a:rPr sz="9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stale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6066" y="3913632"/>
            <a:ext cx="1716459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l"/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已失效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762526" y="3913632"/>
            <a:ext cx="1859497" cy="2926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l"/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14416" y="4206240"/>
            <a:ext cx="2431650" cy="29260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l"/>
            <a:r>
              <a:rPr sz="9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failed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46066" y="4206240"/>
            <a:ext cx="1716459" cy="29260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l"/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评分失败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762526" y="4206240"/>
            <a:ext cx="1859497" cy="29260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l"/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否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614416" y="2450592"/>
            <a:ext cx="6007608" cy="2048256"/>
          </a:xfrm>
          <a:prstGeom prst="rect">
            <a:avLst/>
          </a:prstGeom>
          <a:noFill/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614416" y="4590288"/>
            <a:ext cx="6007608" cy="1426464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9525">
            <a:solidFill>
              <a:srgbClr val="F5D0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97296" y="4700016"/>
            <a:ext cx="5641848" cy="12252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reviewed 不是单题状态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只有当前学生整份作业的全部题目完成教师复核、无未确认归属、无失效结果时，结果才允许纳入正式报告。单题已复核不代表整份作业完成，AI 初评永远不进入正式成绩。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2 章 · 整体架构与技术选型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AI 共创开发流程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42415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需求 → 设计 → 任务 → 编码 → 验证，每一步都产出可被下一步直接引用的中间文档，避免口头传递。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4023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D3DDEC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55096" cy="10972"/>
          </a:xfrm>
          <a:prstGeom prst="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47104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批小智 · AI 自动批改作业智能体  |  AI 共创开发汇报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547104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12 / 37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572768"/>
            <a:ext cx="2093976" cy="475488"/>
          </a:xfrm>
          <a:prstGeom prst="roundRect">
            <a:avLst>
              <a:gd name="adj" fmla="val 14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6656" y="1691640"/>
            <a:ext cx="1874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PRD 文档生成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139696"/>
            <a:ext cx="209397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AI 生成需求规格说明书，人工确认范围与待确认项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11196" y="1673352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16936" y="1572768"/>
            <a:ext cx="2093976" cy="475488"/>
          </a:xfrm>
          <a:prstGeom prst="roundRect">
            <a:avLst>
              <a:gd name="adj" fmla="val 14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26664" y="1691640"/>
            <a:ext cx="1874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UI/UX 设计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16936" y="2139696"/>
            <a:ext cx="209397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生成界面结构、交互状态与视觉规范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61204" y="1673352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66944" y="1572768"/>
            <a:ext cx="2093976" cy="475488"/>
          </a:xfrm>
          <a:prstGeom prst="roundRect">
            <a:avLst>
              <a:gd name="adj" fmla="val 14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76672" y="1691640"/>
            <a:ext cx="1874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开发任务拆解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66944" y="2139696"/>
            <a:ext cx="209397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拆分为后端 BE-01…12 与前端 FE-01…08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11212" y="1673352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16952" y="1572768"/>
            <a:ext cx="2093976" cy="475488"/>
          </a:xfrm>
          <a:prstGeom prst="roundRect">
            <a:avLst>
              <a:gd name="adj" fmla="val 14000"/>
            </a:avLst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26680" y="1691640"/>
            <a:ext cx="1874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代码实现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6952" y="2139696"/>
            <a:ext cx="209397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依据 PRD、UI/UX 与任务文档编码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61220" y="1673352"/>
            <a:ext cx="1828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966960" y="1572768"/>
            <a:ext cx="2093976" cy="475488"/>
          </a:xfrm>
          <a:prstGeom prst="roundRect">
            <a:avLst>
              <a:gd name="adj" fmla="val 14000"/>
            </a:avLst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76688" y="1691640"/>
            <a:ext cx="1874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测试与验证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66960" y="2139696"/>
            <a:ext cx="2093976" cy="60350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构建、迁移、单测、接口冒烟与受控链路回归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2907792"/>
            <a:ext cx="3529584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66928" y="2907792"/>
            <a:ext cx="50292" cy="12984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8096" y="3054096"/>
            <a:ext cx="3145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人机协作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8096" y="3401568"/>
            <a:ext cx="3145536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0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AI 负责初稿与框架，人工负责审核、优化与决策。所有“待确认”项必须由负责人给出结论后才进入实现。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29684" y="2907792"/>
            <a:ext cx="3529584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329684" y="2907792"/>
            <a:ext cx="50292" cy="129844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30852" y="3054096"/>
            <a:ext cx="3145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迭代优化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30852" y="3401568"/>
            <a:ext cx="3145536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0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通过多轮对话与反馈逐步完善文档与代码质量；发现文档与实现冲突时先记录冲突再处理，不静默改写。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92440" y="2907792"/>
            <a:ext cx="3529584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092440" y="2907792"/>
            <a:ext cx="50292" cy="1298448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93608" y="3054096"/>
            <a:ext cx="314553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文档驱动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93608" y="3401568"/>
            <a:ext cx="3145536" cy="6949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0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以文档为桥梁，确保需求、设计与实现一致；文档同时是验收依据与边界声明。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4407408"/>
            <a:ext cx="11055096" cy="106070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86384" y="4535424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500"/>
              </a:spcAft>
            </a:pPr>
            <a:r>
              <a:rPr sz="10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本项目实际交付顺序与任务书对应关系</a:t>
            </a:r>
          </a:p>
          <a:p>
            <a:pPr algn="l">
              <a:lnSpc>
                <a:spcPct val="132000"/>
              </a:lnSpc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PRD → UI/UX → 开发技术文档 → 任务拆分（BE / FE）→ 编码实现 → 测试与验收，逐项对应任务书第 4 章“项目任务分解”的 10 项任务；第 5 章预期输出中的 PRD、UI/UX、数据库设计、API 文档、测试报告、部署运维手册、AI 协作教程、汇报 PPT、RAG 语料与项目说明均已形成独立交付物。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46520" cy="68580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46520" y="0"/>
            <a:ext cx="574544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38928" y="822960"/>
            <a:ext cx="1051560" cy="1051560"/>
          </a:xfrm>
          <a:prstGeom prst="ellipse">
            <a:avLst/>
          </a:prstGeom>
          <a:solidFill>
            <a:srgbClr val="1B3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138928" y="448056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47088"/>
            <a:ext cx="4023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600" b="1">
                <a:solidFill>
                  <a:srgbClr val="2B59A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401568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共创 PRD 文档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114800"/>
            <a:ext cx="1371600" cy="4572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315968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A8BCD8"/>
                </a:solidFill>
                <a:latin typeface="Microsoft YaHei"/>
                <a:ea typeface="Microsoft YaHei"/>
                <a:cs typeface="Microsoft YaHei"/>
              </a:rPr>
              <a:t>从提示词设计到初版生成，再到反馈迭代与关键内容拆解，
展示需求规格说明书的完整共创过程。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46304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0608" y="18745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6096" y="18562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项目背景与需求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8" y="23317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6096" y="23134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整体架构与技术选型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67728" y="2743199"/>
            <a:ext cx="4572000" cy="402336"/>
          </a:xfrm>
          <a:prstGeom prst="roundRect">
            <a:avLst>
              <a:gd name="adj" fmla="val 14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50608" y="27889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6096" y="27706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AI 共创 PRD 文档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50608" y="32461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6096" y="32278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AI 共创 UI/UX 文档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8" y="37033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6096" y="36850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核心功能模块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608" y="41605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6096" y="41422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核心技术实现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608" y="46177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6096" y="45994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验证、验收与交付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1722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D3DDEC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3 章 · AI 共创 PRD 文档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PRD 文档结构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42415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PRD 全文作为最高需求依据；正文版本 v1.0.1，文件名保留 v1.0.0，差异已在文档内显式说明。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4023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D3DDEC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55096" cy="10972"/>
          </a:xfrm>
          <a:prstGeom prst="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47104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批小智 · AI 自动批改作业智能体  |  AI 共创开发汇报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547104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14 / 37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572768"/>
            <a:ext cx="2679192" cy="9692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572768"/>
            <a:ext cx="2679192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55648"/>
            <a:ext cx="2350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文档信息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103120"/>
            <a:ext cx="23500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版本 / 状态 / 关联交付物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7852" y="1572768"/>
            <a:ext cx="2679192" cy="9692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7852" y="1572768"/>
            <a:ext cx="2679192" cy="4114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52444" y="1755648"/>
            <a:ext cx="2350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产品背景与定位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2444" y="2103120"/>
            <a:ext cx="23500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市场背景 / 竞品结论 / 定位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1572768"/>
            <a:ext cx="2679192" cy="9692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8776" y="1572768"/>
            <a:ext cx="2679192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3368" y="1755648"/>
            <a:ext cx="2350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产品目标与范围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73368" y="2103120"/>
            <a:ext cx="23500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任务书目标 / 首版范围 / 不做承诺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29700" y="1572768"/>
            <a:ext cx="2679192" cy="9692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29700" y="1572768"/>
            <a:ext cx="2679192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94292" y="1755648"/>
            <a:ext cx="2350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目标用户与场景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94292" y="2103120"/>
            <a:ext cx="23500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个人教师 / 教研组 / 单教师配置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2724912"/>
            <a:ext cx="2679192" cy="9692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2724912"/>
            <a:ext cx="2679192" cy="4114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2907792"/>
            <a:ext cx="2350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架构与导航结构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255264"/>
            <a:ext cx="23500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一级导航 / 模块关系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7852" y="2724912"/>
            <a:ext cx="2679192" cy="9692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87852" y="2724912"/>
            <a:ext cx="2679192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52444" y="2907792"/>
            <a:ext cx="2350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核心业务流程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52444" y="3255264"/>
            <a:ext cx="23500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六阶段 / 可回退点 / 控制原则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08776" y="2724912"/>
            <a:ext cx="2679192" cy="9692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08776" y="2724912"/>
            <a:ext cx="2679192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73368" y="2907792"/>
            <a:ext cx="2350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功能需求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73368" y="3255264"/>
            <a:ext cx="23500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HM / OCR / GRD / RUB / RPT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29700" y="2724912"/>
            <a:ext cx="2679192" cy="9692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29700" y="2724912"/>
            <a:ext cx="2679192" cy="4114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94292" y="2907792"/>
            <a:ext cx="2350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核心数据与业务规则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94292" y="3255264"/>
            <a:ext cx="23500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数据对象 / 状态流转 / 归属字段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66928" y="3877056"/>
            <a:ext cx="2679192" cy="9692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3877056"/>
            <a:ext cx="2679192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4059936"/>
            <a:ext cx="2350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AI 识别与评分要求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4407408"/>
            <a:ext cx="23500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OCR 输出 / 评分输出 / 模型约束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387852" y="3877056"/>
            <a:ext cx="2679192" cy="9692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387852" y="3877056"/>
            <a:ext cx="2679192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52444" y="4059936"/>
            <a:ext cx="2350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页面与交互要求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52444" y="4407408"/>
            <a:ext cx="23500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页面清单 / 交互状态要求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08776" y="3877056"/>
            <a:ext cx="2679192" cy="9692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208776" y="3877056"/>
            <a:ext cx="2679192" cy="4114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373368" y="4059936"/>
            <a:ext cx="2350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技术架构与技术约束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373368" y="4407408"/>
            <a:ext cx="23500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选型 / 处理链路 / 并发与硬件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029700" y="3877056"/>
            <a:ext cx="2679192" cy="96926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029700" y="3877056"/>
            <a:ext cx="2679192" cy="411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194292" y="4059936"/>
            <a:ext cx="23500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评估、风险与规划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194292" y="4407408"/>
            <a:ext cx="235000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验收判定 / Q-001…Q-008 / 交付规划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66928" y="5394960"/>
            <a:ext cx="11055096" cy="658368"/>
          </a:xfrm>
          <a:prstGeom prst="roundRect">
            <a:avLst>
              <a:gd name="adj" fmla="val 10000"/>
            </a:avLst>
          </a:prstGeom>
          <a:solidFill>
            <a:srgbClr val="ECFDF3"/>
          </a:solidFill>
          <a:ln w="9525">
            <a:solidFill>
              <a:srgbClr val="B7E1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68096" y="5513832"/>
            <a:ext cx="10607040" cy="4206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标记说明：</a:t>
            </a:r>
            <a:r>
              <a:rPr sz="1000" b="0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“任务书明确”为原任务书已提出的要求；“产品建议”为形成可交付闭环提出的设计建议；“待确认”为需要项目负责人或技术验证后才能定稿的事项。三者贯穿全文，量化指标一律标注为“目标值，不是已验证结果”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3 章 · AI 共创 PRD 文档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AI 共创第一步：提示词设计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42415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把“写一份 PRD”这类模糊指令，转化为角色、目标、模块与约束都明确的机器可理解任务。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4023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D3DDEC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55096" cy="10972"/>
          </a:xfrm>
          <a:prstGeom prst="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47104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批小智 · AI 自动批改作业智能体  |  AI 共创开发汇报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547104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15 / 37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572768"/>
            <a:ext cx="6400800" cy="4425696"/>
          </a:xfrm>
          <a:prstGeom prst="roundRect">
            <a:avLst>
              <a:gd name="adj" fmla="val 5000"/>
            </a:avLst>
          </a:prstGeom>
          <a:solidFill>
            <a:srgbClr val="10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700784"/>
            <a:ext cx="603504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7DD3FC"/>
                </a:solidFill>
                <a:latin typeface="Microsoft YaHei"/>
                <a:ea typeface="Microsoft YaHei"/>
                <a:cs typeface="Microsoft YaHei"/>
              </a:rPr>
              <a:t>PRD Generation Prompt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938528"/>
            <a:ext cx="6071616" cy="39502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PRD Generation Prompt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你是一位资深 AI 产品经理，具备 0→1 教育类产品定义经验。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请为「面向个人教师的 AI 自动批改作业 Web 应用」撰写产品需求规格说明书。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核心功能模块：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1. 作业管理：班级/学生/批次、参考答案与评分标准录入、JPG/PNG/PDF 批量上传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2. OCR 识别与校对：预处理、文本块坐标与置信度、原图对照校对、学生多页归属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3. 智能批改：客观题规则判分、主观题按评分点 AI 初评、异常标注与有限重试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4. 评分标准知识库：评分点、分值、示例作答、版本管理与跨批次复用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5. 批改报告：个人成绩单、班级统计、双口径（教师已复核 / AI 初评参考）、PDF/Word 导出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约束条件：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 区分「任务书明确 / 产品建议 / 待确认」三类标记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 量化指标只写目标值，并标注验收前需补充的口径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 不得把未验证结论写成已验证事实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请输出完整 PRD，包含标准章节：文档信息、产品背景与定位、目标与范围、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用户与场景、架构与导航、业务流程、功能需求（含编号与验收条件）、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数据与业务规则、AI 识别与评分要求、页面与交互、技术架构与约束、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非功能需求、评估与验收、优先级与交付规划、风险与待确认事项。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1572768"/>
            <a:ext cx="439826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223760" y="1572768"/>
            <a:ext cx="50292" cy="100584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24928" y="1719072"/>
            <a:ext cx="40142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角色设定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4928" y="2066544"/>
            <a:ext cx="401421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明确 AI 扮演“资深 AI 产品经理”，保证产出的专业度与边界意识。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23760" y="2706624"/>
            <a:ext cx="439826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23760" y="2706624"/>
            <a:ext cx="50292" cy="100584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24928" y="2852928"/>
            <a:ext cx="40142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目标聚焦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4928" y="3200400"/>
            <a:ext cx="401421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锁定“完整的 PRD 文档”并显式列出章节，避免内容发散，直击核心交付。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23760" y="3840480"/>
            <a:ext cx="4398264" cy="1005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223760" y="3840480"/>
            <a:ext cx="50292" cy="1005840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24928" y="3986784"/>
            <a:ext cx="401421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指令清晰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424928" y="4334256"/>
            <a:ext cx="4014216" cy="402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给出五大功能模块与量化指标标注要求，把模糊指令转为高确定性任务。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23760" y="4974336"/>
            <a:ext cx="4398264" cy="1024128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9525">
            <a:solidFill>
              <a:srgbClr val="C7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06640" y="5084064"/>
            <a:ext cx="4032504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设计洞察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关键不是把活交给 AI，而是把“不可编造”的约束写进提示词。本项目 PRD 全文对每条结论标注来源等级，使后续 UI/UX、开发技术文档都能引用同一套口径。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3 章 · AI 共创 PRD 文档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AI 生成初版 PRD 与优化反馈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42415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初版负责快速成形，反馈迭代负责补齐技术维度与可验收性；两轮之间以“缺什么”驱动。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4023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D3DDEC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55096" cy="10972"/>
          </a:xfrm>
          <a:prstGeom prst="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47104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批小智 · AI 自动批改作业智能体  |  AI 共创开发汇报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547104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16 / 37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554480"/>
            <a:ext cx="5422392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554480"/>
            <a:ext cx="50292" cy="22860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700784"/>
            <a:ext cx="50383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初版 PRD：自动化生成流程与章节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048256"/>
            <a:ext cx="5038344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生成流程　</a:t>
            </a: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AI 将需求拆解为任务列表，通过多轮对话逐步完善细节，最终整合为结构化 Markdown 文档。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初版章节　</a:t>
            </a: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文档信息、产品背景与定位、产品目标与范围、目标用户与使用场景、产品架构与导航结构、核心业务流程、功能需求、核心数据与业务规则、页面与交互要求、非功能需求、风险与待确认事项。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初版局限　</a:t>
            </a: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技术架构、接口设计、数据模型与量化评测口径不完整，无法直接指导开发与验收。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99632" y="1554480"/>
            <a:ext cx="5422392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99632" y="1554480"/>
            <a:ext cx="50292" cy="2286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700784"/>
            <a:ext cx="50383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3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用户反馈 → AI 智能优化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048256"/>
            <a:ext cx="5038344" cy="16824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反馈要点　</a:t>
            </a: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缺少技术架构、接口设计、数据模型；量化指标缺少可验证口径；状态与错误分类未收敛。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迭代结果　</a:t>
            </a: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补齐技术架构与技术约束、推荐处理链路、并发与硬件基线、评测方案骨架与验收判定原则。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收敛产出　</a:t>
            </a: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8 项「已确认的首版决策」与 Q-001…Q-008 待确认事项清单，逐条标注影响与下一步动作。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4041648"/>
            <a:ext cx="110550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最终 PRD 关键内容拆解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334256"/>
            <a:ext cx="2679192" cy="1517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4334256"/>
            <a:ext cx="50292" cy="15179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4480560"/>
            <a:ext cx="22951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功能需求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4828032"/>
            <a:ext cx="22951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清晰描述六个模块的详细业务流程、编号与验收条件，确保开发逻辑闭环、无歧义。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87852" y="4334256"/>
            <a:ext cx="2679192" cy="1517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387852" y="4334256"/>
            <a:ext cx="50292" cy="151790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89020" y="4480560"/>
            <a:ext cx="22951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技术架构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89020" y="4828032"/>
            <a:ext cx="22951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确立前后端分离架构，明确 LangGraph 编排、任务队列、模型调用的集成方式与数据流转路径。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4334256"/>
            <a:ext cx="2679192" cy="1517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08776" y="4334256"/>
            <a:ext cx="50292" cy="151790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9944" y="4480560"/>
            <a:ext cx="22951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数据与接口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9944" y="4828032"/>
            <a:ext cx="22951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定义核心数据对象、状态流转、归属字段与外部模型调用约束；接口规范请求、响应与错误码。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29700" y="4334256"/>
            <a:ext cx="2679192" cy="1517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029700" y="4334256"/>
            <a:ext cx="50292" cy="1517904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0868" y="4480560"/>
            <a:ext cx="22951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非功能与验收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30868" y="4828032"/>
            <a:ext cx="2295144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设定性能、并发、可靠性、安全与合规要求，并给出评测方案骨架与验收判定原则。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46520" cy="68580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46520" y="0"/>
            <a:ext cx="574544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38928" y="822960"/>
            <a:ext cx="1051560" cy="1051560"/>
          </a:xfrm>
          <a:prstGeom prst="ellipse">
            <a:avLst/>
          </a:prstGeom>
          <a:solidFill>
            <a:srgbClr val="1B3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138928" y="448056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47088"/>
            <a:ext cx="4023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600" b="1">
                <a:solidFill>
                  <a:srgbClr val="2B59A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401568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共创 UI/UX 文档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114800"/>
            <a:ext cx="1371600" cy="4572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315968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A8BCD8"/>
                </a:solidFill>
                <a:latin typeface="Microsoft YaHei"/>
                <a:ea typeface="Microsoft YaHei"/>
                <a:cs typeface="Microsoft YaHei"/>
              </a:rPr>
              <a:t>页面布局、交互状态、视觉 token 与响应式规范，
是前端开发与 UI 验收的直接依据。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46304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0608" y="18745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6096" y="18562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项目背景与需求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8" y="23317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6096" y="23134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整体架构与技术选型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0608" y="27889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6096" y="27706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AI 共创 PRD 文档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967728" y="3200399"/>
            <a:ext cx="4572000" cy="402336"/>
          </a:xfrm>
          <a:prstGeom prst="roundRect">
            <a:avLst>
              <a:gd name="adj" fmla="val 14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50608" y="32461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26096" y="32278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AI 共创 UI/UX 文档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50608" y="37033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6096" y="36850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核心功能模块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608" y="41605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6096" y="41422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核心技术实现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608" y="46177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6096" y="45994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验证、验收与交付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1722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D3DDEC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4 章 · AI 共创 UI/UX 文档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UI/UX 文档：布局与交互的蓝图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42415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“证据链优先：评分页面的核心信息顺序固定为学生作答 → OCR 文本 → 参考答案/评分标准 → AI 建议 → 教师结论。”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4023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D3DDEC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55096" cy="10972"/>
          </a:xfrm>
          <a:prstGeom prst="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47104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批小智 · AI 自动批改作业智能体  |  AI 共创开发汇报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547104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18 / 37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572768"/>
            <a:ext cx="2679192" cy="2130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572768"/>
            <a:ext cx="50292" cy="21305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719072"/>
            <a:ext cx="22951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登录页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066544"/>
            <a:ext cx="2295144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系统唯一入口，未登录不得通过地址访问内部功能；登录失败保留账号并显示可理解的错误，错误区域具备 role=alert。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7852" y="1572768"/>
            <a:ext cx="2679192" cy="2130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387852" y="1572768"/>
            <a:ext cx="50292" cy="21305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89020" y="1719072"/>
            <a:ext cx="22951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工作台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89020" y="2066544"/>
            <a:ext cx="2295144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待处理任务、批改进度、异常提醒与最近批次；每个批次状态对应一个明确主操作，异常项优先展示。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08776" y="1572768"/>
            <a:ext cx="2679192" cy="2130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08776" y="1572768"/>
            <a:ext cx="50292" cy="21305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9944" y="1719072"/>
            <a:ext cx="22951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作业管理页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9944" y="2066544"/>
            <a:ext cx="2295144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批次表格 / 卡片 + 班级与学生弹窗 + 批量上传卡；搜索覆盖批次名、批次 ID、班级、学科、学生。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29700" y="1572768"/>
            <a:ext cx="2679192" cy="2130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029700" y="1572768"/>
            <a:ext cx="50292" cy="21305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0868" y="1719072"/>
            <a:ext cx="22951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OCR 校对页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0868" y="2066544"/>
            <a:ext cx="2295144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桌面左右分栏（原图 ↔ 归属与逐题答案）；移动端分段「原图 / 答案与归属 / 题目列表」，底部固定提交栏。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3886200"/>
            <a:ext cx="2679192" cy="2130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66928" y="3886200"/>
            <a:ext cx="50292" cy="21305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8096" y="4032504"/>
            <a:ext cx="22951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智能批改与复核页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4379976"/>
            <a:ext cx="2295144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左侧复核队列异常优先，右侧按证据链展示；保存待复核与确认本题分离，确认后自动进入下一题。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7852" y="3886200"/>
            <a:ext cx="2679192" cy="2130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87852" y="3886200"/>
            <a:ext cx="50292" cy="21305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89020" y="4032504"/>
            <a:ext cx="22951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批改报告页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89020" y="4379976"/>
            <a:ext cx="2295144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上：批次范围与口径切换 + 指标卡；中：得分分布与讲评线索；下：个人成绩单列表与详情入口。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08776" y="3886200"/>
            <a:ext cx="2679192" cy="2130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08776" y="3886200"/>
            <a:ext cx="50292" cy="21305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9944" y="4032504"/>
            <a:ext cx="22951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评分标准页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9944" y="4379976"/>
            <a:ext cx="2295144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按学科与题型维护标准；卡片展示版本、评分点摘要、总分与启停状态，支持版本历史查看。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29700" y="3886200"/>
            <a:ext cx="2679192" cy="21305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029700" y="3886200"/>
            <a:ext cx="50292" cy="2130552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0868" y="4032504"/>
            <a:ext cx="2295144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设置页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0868" y="4379976"/>
            <a:ext cx="2295144" cy="1527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教师配置、模型接口、文件与数据、隐私与脱敏、运行边界五个分区；查询接口永不返回 API Key 明文。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4 章 · AI 共创 UI/UX 文档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Prompt 设计：从模糊到精准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42415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在提示词中把“布局”和“输出”同时钉死，是 UI 类生成任务可控的前提。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4023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D3DDEC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55096" cy="10972"/>
          </a:xfrm>
          <a:prstGeom prst="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47104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批小智 · AI 自动批改作业智能体  |  AI 共创开发汇报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547104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19 / 37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572768"/>
            <a:ext cx="502920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1572768"/>
            <a:ext cx="50292" cy="10789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68096" y="1719072"/>
            <a:ext cx="46451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1. 精准提问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066544"/>
            <a:ext cx="46451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0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向 AI 提出清晰、具体的问题，避免模棱两可的表述，明确交付物形态。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779776"/>
            <a:ext cx="502920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2779776"/>
            <a:ext cx="50292" cy="10789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8096" y="2926080"/>
            <a:ext cx="46451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2. 明确界面布局需求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8096" y="3273552"/>
            <a:ext cx="46451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0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在 Prompt 中固定布局结构、分栏方式与关键区域，避免每次生成结果漂移。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986784"/>
            <a:ext cx="5029200" cy="107899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3986784"/>
            <a:ext cx="50292" cy="107899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4133088"/>
            <a:ext cx="4645152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3. 循序渐进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4480560"/>
            <a:ext cx="4645152" cy="4754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0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每次只给一个明确目标，先结构后细节，降低试错成本与重做范围。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870448" y="1572768"/>
            <a:ext cx="5751576" cy="4498848"/>
          </a:xfrm>
          <a:prstGeom prst="roundRect">
            <a:avLst>
              <a:gd name="adj" fmla="val 5000"/>
            </a:avLst>
          </a:prstGeom>
          <a:solidFill>
            <a:srgbClr val="10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53328" y="1700784"/>
            <a:ext cx="538581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7DD3FC"/>
                </a:solidFill>
                <a:latin typeface="Microsoft YaHei"/>
                <a:ea typeface="Microsoft YaHei"/>
                <a:cs typeface="Microsoft YaHei"/>
              </a:rPr>
              <a:t>Prompt 实战示例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53328" y="1938528"/>
            <a:ext cx="5422392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你是一位资深产品经理兼 UI/UX 设计师。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请根据当前的产品需求规格说明书，撰写一份完整的 UI/UX 文档。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整体布局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 三栏布局：顶部导航栏 + 侧边栏 + 主内容区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 侧边栏固定六个一级导航：工作台 / 作业管理 / 智能批改 /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评分标准 / 批改报告 / 设置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核心页面布局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1. 作业管理页 —— 表格主列 + 批量上传侧列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2. OCR 校对页 —— 左右分栏（原图 | 归属与逐题答案）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3. 智能批改与复核页 —— 左队列 + 右证据链详情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4. 批改报告页 —— 顶部口径区 + 中部图表 + 下部成绩单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视觉与约束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 主色：信任蓝 #2563EB；主 CTA：深橙 #C2410C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 状态不能只依赖颜色，必须同时有文字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 AI 结果与正式成绩必须视觉区分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- 验收宽度：375 / 768 / 1024 / 1440px，无页面级横向溢出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请生成完整的 UI/UX 文档。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4 章 · AI 共创 UI/UX 文档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视觉设计系统：Token 化与可访问性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42415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颜色、字号、间距、圆角全部收敛为语义 token；组件内不直接写入未登记的色值。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4023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D3DDEC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55096" cy="10972"/>
          </a:xfrm>
          <a:prstGeom prst="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47104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批小智 · AI 自动批改作业智能体  |  AI 共创开发汇报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547104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20 / 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17904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颜色 Token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73936"/>
            <a:ext cx="2060811" cy="27432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Token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27739" y="1773936"/>
            <a:ext cx="1071622" cy="27432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建议值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99362" y="1773936"/>
            <a:ext cx="2390541" cy="27432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048256"/>
            <a:ext cx="2060811" cy="2697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--color-primary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27739" y="2048256"/>
            <a:ext cx="1071622" cy="2697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#2563EB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99362" y="2048256"/>
            <a:ext cx="2390541" cy="2697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主导航、链接、焦点环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318004"/>
            <a:ext cx="2060811" cy="2697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--color-primary-soft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27739" y="2318004"/>
            <a:ext cx="1071622" cy="2697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#EFF6FF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99362" y="2318004"/>
            <a:ext cx="2390541" cy="2697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当前导航、选中背景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587752"/>
            <a:ext cx="2060811" cy="2697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--color-accent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27739" y="2587752"/>
            <a:ext cx="1071622" cy="2697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#C2410C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99362" y="2587752"/>
            <a:ext cx="2390541" cy="2697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每页唯一主 CTA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857500"/>
            <a:ext cx="2060811" cy="2697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--color-background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627739" y="2857500"/>
            <a:ext cx="1071622" cy="2697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#F7F9FC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99362" y="2857500"/>
            <a:ext cx="2390541" cy="2697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页面背景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3127248"/>
            <a:ext cx="2060811" cy="2697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--color-surface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27739" y="3127248"/>
            <a:ext cx="1071622" cy="2697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#FFFFFF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99362" y="3127248"/>
            <a:ext cx="2390541" cy="2697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卡片、表单、弹窗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396996"/>
            <a:ext cx="2060811" cy="2697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--color-foreground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27739" y="3396996"/>
            <a:ext cx="1071622" cy="2697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#1E293B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99362" y="3396996"/>
            <a:ext cx="2390541" cy="2697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标题、正文、主要数据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66928" y="3666744"/>
            <a:ext cx="2060811" cy="2697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--color-muted-foreground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27739" y="3666744"/>
            <a:ext cx="1071622" cy="2697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#52627A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99362" y="3666744"/>
            <a:ext cx="2390541" cy="2697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辅助说明、次要信息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3936492"/>
            <a:ext cx="2060811" cy="2697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--color-border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627739" y="3936492"/>
            <a:ext cx="1071622" cy="2697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#DCE4EF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699362" y="3936492"/>
            <a:ext cx="2390541" cy="2697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卡片 / 表格 / 输入框边界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4206240"/>
            <a:ext cx="2060811" cy="2697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--color-success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27739" y="4206240"/>
            <a:ext cx="1071622" cy="2697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#166534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99362" y="4206240"/>
            <a:ext cx="2390541" cy="2697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已复核、成功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475988"/>
            <a:ext cx="2060811" cy="2697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--color-warning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627739" y="4475988"/>
            <a:ext cx="1071622" cy="2697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#9A3412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699362" y="4475988"/>
            <a:ext cx="2390541" cy="2697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待复核、低置信度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66928" y="4745736"/>
            <a:ext cx="2060811" cy="2697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--color-danger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627739" y="4745736"/>
            <a:ext cx="1071622" cy="2697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#B91C1C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99362" y="4745736"/>
            <a:ext cx="2390541" cy="2697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失败、危险操作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1773936"/>
            <a:ext cx="5522976" cy="3241548"/>
          </a:xfrm>
          <a:prstGeom prst="rect">
            <a:avLst/>
          </a:prstGeom>
          <a:noFill/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566928" y="5138928"/>
            <a:ext cx="5522976" cy="1133856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9525">
            <a:solidFill>
              <a:srgbClr val="C7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49808" y="5239512"/>
            <a:ext cx="5157216" cy="950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Token 落地的三条工程约束</a:t>
            </a:r>
          </a:p>
          <a:p>
            <a:pPr algn="l">
              <a:lnSpc>
                <a:spcPct val="120000"/>
              </a:lnSpc>
            </a:pPr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· 组件只引用 token，禁止内联十六进制色值，保证主题统一与暗色模式可扩展。</a:t>
            </a:r>
          </a:p>
          <a:p>
            <a:pPr algn="l">
              <a:lnSpc>
                <a:spcPct val="120000"/>
              </a:lnSpc>
            </a:pPr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· 语义色只表达状态：成功 / 待复核 / 失败，不作为装饰性强调使用。</a:t>
            </a:r>
          </a:p>
          <a:p>
            <a:pPr algn="l">
              <a:lnSpc>
                <a:spcPct val="120000"/>
              </a:lnSpc>
            </a:pPr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· 每页只保留一个主 CTA（accent 橙），其余降为次级按钮，避免视觉竞争。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45936" y="1517904"/>
            <a:ext cx="52760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字号与节奏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345936" y="1773936"/>
            <a:ext cx="1496204" cy="265176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Token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42140" y="1773936"/>
            <a:ext cx="1023718" cy="265176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桌面端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65858" y="1773936"/>
            <a:ext cx="1023718" cy="265176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移动端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889577" y="1773936"/>
            <a:ext cx="1732446" cy="265176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用途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345936" y="2039112"/>
            <a:ext cx="1496204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text-xs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842140" y="2039112"/>
            <a:ext cx="1023718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12px</a:t>
            </a:r>
          </a:p>
        </p:txBody>
      </p:sp>
      <p:sp>
        <p:nvSpPr>
          <p:cNvPr id="58" name="Rectangle 57"/>
          <p:cNvSpPr/>
          <p:nvPr/>
        </p:nvSpPr>
        <p:spPr>
          <a:xfrm>
            <a:off x="8865858" y="2039112"/>
            <a:ext cx="1023718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12px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889577" y="2039112"/>
            <a:ext cx="1732446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时间、版本、辅助元数据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345936" y="2295144"/>
            <a:ext cx="1496204" cy="2560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text-sm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842140" y="2295144"/>
            <a:ext cx="1023718" cy="2560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13px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865858" y="2295144"/>
            <a:ext cx="1023718" cy="2560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14px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889577" y="2295144"/>
            <a:ext cx="1732446" cy="2560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标签、表格辅助信息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345936" y="2551176"/>
            <a:ext cx="1496204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text-body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42140" y="2551176"/>
            <a:ext cx="1023718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14px</a:t>
            </a:r>
          </a:p>
        </p:txBody>
      </p:sp>
      <p:sp>
        <p:nvSpPr>
          <p:cNvPr id="66" name="Rectangle 65"/>
          <p:cNvSpPr/>
          <p:nvPr/>
        </p:nvSpPr>
        <p:spPr>
          <a:xfrm>
            <a:off x="8865858" y="2551176"/>
            <a:ext cx="1023718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16px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889577" y="2551176"/>
            <a:ext cx="1732446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正文、表单内容</a:t>
            </a:r>
          </a:p>
        </p:txBody>
      </p:sp>
      <p:sp>
        <p:nvSpPr>
          <p:cNvPr id="68" name="Rectangle 67"/>
          <p:cNvSpPr/>
          <p:nvPr/>
        </p:nvSpPr>
        <p:spPr>
          <a:xfrm>
            <a:off x="6345936" y="2807208"/>
            <a:ext cx="1496204" cy="2560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text-h3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842140" y="2807208"/>
            <a:ext cx="1023718" cy="2560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15px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865858" y="2807208"/>
            <a:ext cx="1023718" cy="2560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16px</a:t>
            </a:r>
          </a:p>
        </p:txBody>
      </p:sp>
      <p:sp>
        <p:nvSpPr>
          <p:cNvPr id="71" name="Rectangle 70"/>
          <p:cNvSpPr/>
          <p:nvPr/>
        </p:nvSpPr>
        <p:spPr>
          <a:xfrm>
            <a:off x="9889577" y="2807208"/>
            <a:ext cx="1732446" cy="2560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卡片标题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345936" y="3063240"/>
            <a:ext cx="1496204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text-h2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842140" y="3063240"/>
            <a:ext cx="1023718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19px</a:t>
            </a:r>
          </a:p>
        </p:txBody>
      </p:sp>
      <p:sp>
        <p:nvSpPr>
          <p:cNvPr id="74" name="Rectangle 73"/>
          <p:cNvSpPr/>
          <p:nvPr/>
        </p:nvSpPr>
        <p:spPr>
          <a:xfrm>
            <a:off x="8865858" y="3063240"/>
            <a:ext cx="1023718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18px</a:t>
            </a:r>
          </a:p>
        </p:txBody>
      </p:sp>
      <p:sp>
        <p:nvSpPr>
          <p:cNvPr id="75" name="Rectangle 74"/>
          <p:cNvSpPr/>
          <p:nvPr/>
        </p:nvSpPr>
        <p:spPr>
          <a:xfrm>
            <a:off x="9889577" y="3063240"/>
            <a:ext cx="1732446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区块标题</a:t>
            </a:r>
          </a:p>
        </p:txBody>
      </p:sp>
      <p:sp>
        <p:nvSpPr>
          <p:cNvPr id="76" name="Rectangle 75"/>
          <p:cNvSpPr/>
          <p:nvPr/>
        </p:nvSpPr>
        <p:spPr>
          <a:xfrm>
            <a:off x="6345936" y="3319272"/>
            <a:ext cx="1496204" cy="2560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text-h1</a:t>
            </a:r>
          </a:p>
        </p:txBody>
      </p:sp>
      <p:sp>
        <p:nvSpPr>
          <p:cNvPr id="77" name="Rectangle 76"/>
          <p:cNvSpPr/>
          <p:nvPr/>
        </p:nvSpPr>
        <p:spPr>
          <a:xfrm>
            <a:off x="7842140" y="3319272"/>
            <a:ext cx="1023718" cy="2560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30px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865858" y="3319272"/>
            <a:ext cx="1023718" cy="2560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26px</a:t>
            </a:r>
          </a:p>
        </p:txBody>
      </p:sp>
      <p:sp>
        <p:nvSpPr>
          <p:cNvPr id="79" name="Rectangle 78"/>
          <p:cNvSpPr/>
          <p:nvPr/>
        </p:nvSpPr>
        <p:spPr>
          <a:xfrm>
            <a:off x="9889577" y="3319272"/>
            <a:ext cx="1732446" cy="2560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页面标题</a:t>
            </a:r>
          </a:p>
        </p:txBody>
      </p:sp>
      <p:sp>
        <p:nvSpPr>
          <p:cNvPr id="80" name="Rectangle 79"/>
          <p:cNvSpPr/>
          <p:nvPr/>
        </p:nvSpPr>
        <p:spPr>
          <a:xfrm>
            <a:off x="6345936" y="3575304"/>
            <a:ext cx="1496204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text-metric</a:t>
            </a:r>
          </a:p>
        </p:txBody>
      </p:sp>
      <p:sp>
        <p:nvSpPr>
          <p:cNvPr id="81" name="Rectangle 80"/>
          <p:cNvSpPr/>
          <p:nvPr/>
        </p:nvSpPr>
        <p:spPr>
          <a:xfrm>
            <a:off x="7842140" y="3575304"/>
            <a:ext cx="1023718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29px</a:t>
            </a:r>
          </a:p>
        </p:txBody>
      </p:sp>
      <p:sp>
        <p:nvSpPr>
          <p:cNvPr id="82" name="Rectangle 81"/>
          <p:cNvSpPr/>
          <p:nvPr/>
        </p:nvSpPr>
        <p:spPr>
          <a:xfrm>
            <a:off x="8865858" y="3575304"/>
            <a:ext cx="1023718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24px</a:t>
            </a:r>
          </a:p>
        </p:txBody>
      </p:sp>
      <p:sp>
        <p:nvSpPr>
          <p:cNvPr id="83" name="Rectangle 82"/>
          <p:cNvSpPr/>
          <p:nvPr/>
        </p:nvSpPr>
        <p:spPr>
          <a:xfrm>
            <a:off x="9889577" y="3575304"/>
            <a:ext cx="1732446" cy="2560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统计数字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345936" y="1773936"/>
            <a:ext cx="5276088" cy="2057400"/>
          </a:xfrm>
          <a:prstGeom prst="rect">
            <a:avLst/>
          </a:prstGeom>
          <a:noFill/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45936" y="3950208"/>
            <a:ext cx="5276088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间距节奏 4 / 8px：</a:t>
            </a:r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space-1(4) 图标间距 · space-2(8) 控件内部 · space-4(16) 卡片内边距 · space-6(24) 区块内边距 · space-8(32) 页面内容边距</a:t>
            </a:r>
          </a:p>
          <a:p>
            <a:pPr algn="l">
              <a:lnSpc>
                <a:spcPct val="125000"/>
              </a:lnSpc>
            </a:pPr>
            <a:r>
              <a:rPr sz="9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圆角与阴影：</a:t>
            </a:r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radius-sm 8px 输入与次级按钮 · radius-md 10–12px 卡片与标签 · radius-lg 16px 弹窗；阴影仅用于卡片轻层次与弹窗，普通卡片不产生可点击错觉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6345936" y="4681728"/>
            <a:ext cx="527608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响应式断点与可访问性硬约束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6345936" y="4974336"/>
            <a:ext cx="5276088" cy="1298448"/>
          </a:xfrm>
          <a:prstGeom prst="roundRect">
            <a:avLst>
              <a:gd name="adj" fmla="val 8000"/>
            </a:avLst>
          </a:prstGeom>
          <a:solidFill>
            <a:srgbClr val="ECFDF3"/>
          </a:solidFill>
          <a:ln w="9525">
            <a:solidFill>
              <a:srgbClr val="B7E1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6528816" y="5084064"/>
            <a:ext cx="4910328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9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375px</a:t>
            </a: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 最小验收宽度，单列 + 抽屉导航　　</a:t>
            </a:r>
            <a:r>
              <a:rPr sz="9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&lt;768px</a:t>
            </a: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 移动端分段布局</a:t>
            </a:r>
          </a:p>
          <a:p>
            <a:pPr algn="l">
              <a:lnSpc>
                <a:spcPct val="130000"/>
              </a:lnSpc>
            </a:pPr>
            <a:r>
              <a:rPr sz="9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768–1199px</a:t>
            </a: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 平板 / 窄桌面　　</a:t>
            </a:r>
            <a:r>
              <a:rPr sz="9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≥1200px</a:t>
            </a: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 完整侧栏，OCR 原图与编辑区并排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正文对比度 ≥4.5:1　非文本对比度 ≥3:1　触控目标 ≥44×44px　状态不只依赖颜色　支持 prefers-reduced-motion　键盘可达、焦点环可见、弹窗支持 Escape 与焦点恢复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46520" cy="68580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46520" y="0"/>
            <a:ext cx="574544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38928" y="822960"/>
            <a:ext cx="1051560" cy="1051560"/>
          </a:xfrm>
          <a:prstGeom prst="ellipse">
            <a:avLst/>
          </a:prstGeom>
          <a:solidFill>
            <a:srgbClr val="1B3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138928" y="448056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47088"/>
            <a:ext cx="4023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600" b="1">
                <a:solidFill>
                  <a:srgbClr val="2B59A8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401568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核心功能模块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114800"/>
            <a:ext cx="1371600" cy="4572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315968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A8BCD8"/>
                </a:solidFill>
                <a:latin typeface="Microsoft YaHei"/>
                <a:ea typeface="Microsoft YaHei"/>
                <a:cs typeface="Microsoft YaHei"/>
              </a:rPr>
              <a:t>从任务拆解到前后端实现：BE-01…12 与 FE-01…08
两级任务清单及其依赖与退出条件。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46304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0608" y="18745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6096" y="18562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项目背景与需求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8" y="23317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6096" y="23134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整体架构与技术选型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0608" y="27889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6096" y="27706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AI 共创 PRD 文档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0608" y="32461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6096" y="32278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AI 共创 UI/UX 文档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967728" y="3657599"/>
            <a:ext cx="4572000" cy="402336"/>
          </a:xfrm>
          <a:prstGeom prst="roundRect">
            <a:avLst>
              <a:gd name="adj" fmla="val 14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50608" y="37033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6096" y="36850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核心功能模块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50608" y="41605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6096" y="41422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核心技术实现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608" y="46177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6096" y="45994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验证、验收与交付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1722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D3DDEC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5 章 · 核心功能模块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AI 共创开发任务文档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42415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每项任务都有依赖与退出条件；任务文档是 PRD 与 UI/UX 落到代码之间的翻译层。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4023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D3DDEC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55096" cy="10972"/>
          </a:xfrm>
          <a:prstGeom prst="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47104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批小智 · AI 自动批改作业智能体  |  AI 共创开发汇报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547104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22 / 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481328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后端任务（Backend）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1737360"/>
            <a:ext cx="587550" cy="27432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编号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54478" y="1737360"/>
            <a:ext cx="1762651" cy="27432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17130" y="1737360"/>
            <a:ext cx="1410121" cy="27432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依赖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27252" y="1737360"/>
            <a:ext cx="1762651" cy="27432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退出条件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2011680"/>
            <a:ext cx="587550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BE-01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154478" y="2011680"/>
            <a:ext cx="1762651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工程、配置、健康检查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917130" y="2011680"/>
            <a:ext cx="1410121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无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27252" y="2011680"/>
            <a:ext cx="1762651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API 可启动，配置错误可见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263140"/>
            <a:ext cx="587550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BE-02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54478" y="2263140"/>
            <a:ext cx="1762651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数据模型、迁移、索引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917130" y="2263140"/>
            <a:ext cx="1410121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BE-01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27252" y="2263140"/>
            <a:ext cx="1762651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Schema 检查通过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2514600"/>
            <a:ext cx="587550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BE-03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54478" y="2514600"/>
            <a:ext cx="1762651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登录、会话、权限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917130" y="2514600"/>
            <a:ext cx="1410121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BE-02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27252" y="2514600"/>
            <a:ext cx="1762651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未登录与越权测试通过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2766060"/>
            <a:ext cx="587550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BE-04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54478" y="2766060"/>
            <a:ext cx="1762651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班级、学生、批次、评分标准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917130" y="2766060"/>
            <a:ext cx="1410121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BE-02/03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27252" y="2766060"/>
            <a:ext cx="1762651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配置校验与版本测试通过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3017520"/>
            <a:ext cx="587550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BE-05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54478" y="3017520"/>
            <a:ext cx="1762651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文件上传、校验、存储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917130" y="3017520"/>
            <a:ext cx="1410121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BE-04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27252" y="3017520"/>
            <a:ext cx="1762651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单文件失败隔离与重试通过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3268980"/>
            <a:ext cx="587550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BE-06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54478" y="3268980"/>
            <a:ext cx="1762651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页面生成与学生归属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917130" y="3268980"/>
            <a:ext cx="1410121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BE-05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327252" y="3268980"/>
            <a:ext cx="1762651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多页归属冲突可处理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66928" y="3520440"/>
            <a:ext cx="587550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BE-07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54478" y="3520440"/>
            <a:ext cx="1762651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OCR 编排与教师校对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917130" y="3520440"/>
            <a:ext cx="1410121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BE-06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327252" y="3520440"/>
            <a:ext cx="1762651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原始 OCR 不覆盖，校对可追溯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3771900"/>
            <a:ext cx="587550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BE-08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154478" y="3771900"/>
            <a:ext cx="1762651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客观题规则判分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917130" y="3771900"/>
            <a:ext cx="1410121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BE-07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327252" y="3771900"/>
            <a:ext cx="1762651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规则与判分理由可追溯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66928" y="4023360"/>
            <a:ext cx="587550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BE-09</a:t>
            </a:r>
          </a:p>
        </p:txBody>
      </p:sp>
      <p:sp>
        <p:nvSpPr>
          <p:cNvPr id="49" name="Rectangle 48"/>
          <p:cNvSpPr/>
          <p:nvPr/>
        </p:nvSpPr>
        <p:spPr>
          <a:xfrm>
            <a:off x="1154478" y="4023360"/>
            <a:ext cx="1762651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主观题模型适配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917130" y="4023360"/>
            <a:ext cx="1410121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BE-07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327252" y="4023360"/>
            <a:ext cx="1762651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JSON、分值、异常校验通过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66928" y="4274820"/>
            <a:ext cx="587550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BE-10</a:t>
            </a:r>
          </a:p>
        </p:txBody>
      </p:sp>
      <p:sp>
        <p:nvSpPr>
          <p:cNvPr id="53" name="Rectangle 52"/>
          <p:cNvSpPr/>
          <p:nvPr/>
        </p:nvSpPr>
        <p:spPr>
          <a:xfrm>
            <a:off x="1154478" y="4274820"/>
            <a:ext cx="1762651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Worker、LangGraph、任务恢复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917130" y="4274820"/>
            <a:ext cx="1410121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BE-08/09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327252" y="4274820"/>
            <a:ext cx="1762651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重试、恢复、部分失败通过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66928" y="4526280"/>
            <a:ext cx="587550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BE-11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154478" y="4526280"/>
            <a:ext cx="1762651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教师复核与报告统计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917130" y="4526280"/>
            <a:ext cx="1410121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BE-10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327252" y="4526280"/>
            <a:ext cx="1762651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正式口径正确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66928" y="4777740"/>
            <a:ext cx="587550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BE-12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154478" y="4777740"/>
            <a:ext cx="1762651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PDF / Word 导出</a:t>
            </a:r>
          </a:p>
        </p:txBody>
      </p:sp>
      <p:sp>
        <p:nvSpPr>
          <p:cNvPr id="62" name="Rectangle 61"/>
          <p:cNvSpPr/>
          <p:nvPr/>
        </p:nvSpPr>
        <p:spPr>
          <a:xfrm>
            <a:off x="2917130" y="4777740"/>
            <a:ext cx="1410121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BE-11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327252" y="4777740"/>
            <a:ext cx="1762651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文件生成、下载、打开与失败重试通过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66928" y="1737360"/>
            <a:ext cx="5522976" cy="3291840"/>
          </a:xfrm>
          <a:prstGeom prst="rect">
            <a:avLst/>
          </a:prstGeom>
          <a:noFill/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45936" y="1481328"/>
            <a:ext cx="53035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前端任务（Frontend）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345936" y="1737360"/>
            <a:ext cx="606446" cy="27432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编号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952382" y="1737360"/>
            <a:ext cx="1758696" cy="27432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任务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711078" y="1737360"/>
            <a:ext cx="1152249" cy="27432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依赖</a:t>
            </a:r>
          </a:p>
        </p:txBody>
      </p:sp>
      <p:sp>
        <p:nvSpPr>
          <p:cNvPr id="69" name="Rectangle 68"/>
          <p:cNvSpPr/>
          <p:nvPr/>
        </p:nvSpPr>
        <p:spPr>
          <a:xfrm>
            <a:off x="9863328" y="1737360"/>
            <a:ext cx="1758696" cy="27432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退出条件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345936" y="2011680"/>
            <a:ext cx="606446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FE-01</a:t>
            </a:r>
          </a:p>
        </p:txBody>
      </p:sp>
      <p:sp>
        <p:nvSpPr>
          <p:cNvPr id="71" name="Rectangle 70"/>
          <p:cNvSpPr/>
          <p:nvPr/>
        </p:nvSpPr>
        <p:spPr>
          <a:xfrm>
            <a:off x="6952382" y="2011680"/>
            <a:ext cx="1758696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应用壳、路由、认证保护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711078" y="2011680"/>
            <a:ext cx="1152249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BE-03</a:t>
            </a:r>
          </a:p>
        </p:txBody>
      </p:sp>
      <p:sp>
        <p:nvSpPr>
          <p:cNvPr id="73" name="Rectangle 72"/>
          <p:cNvSpPr/>
          <p:nvPr/>
        </p:nvSpPr>
        <p:spPr>
          <a:xfrm>
            <a:off x="9863328" y="2011680"/>
            <a:ext cx="1758696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登录、刷新、退出通过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345936" y="2263140"/>
            <a:ext cx="606446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FE-02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952382" y="2263140"/>
            <a:ext cx="1758696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设计 token 与通用组件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711078" y="2263140"/>
            <a:ext cx="1152249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—</a:t>
            </a:r>
          </a:p>
        </p:txBody>
      </p:sp>
      <p:sp>
        <p:nvSpPr>
          <p:cNvPr id="77" name="Rectangle 76"/>
          <p:cNvSpPr/>
          <p:nvPr/>
        </p:nvSpPr>
        <p:spPr>
          <a:xfrm>
            <a:off x="9863328" y="2263140"/>
            <a:ext cx="1758696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视觉与可访问性基线通过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345936" y="2514600"/>
            <a:ext cx="606446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FE-03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952382" y="2514600"/>
            <a:ext cx="1758696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班级、学生、批次配置</a:t>
            </a:r>
          </a:p>
        </p:txBody>
      </p:sp>
      <p:sp>
        <p:nvSpPr>
          <p:cNvPr id="80" name="Rectangle 79"/>
          <p:cNvSpPr/>
          <p:nvPr/>
        </p:nvSpPr>
        <p:spPr>
          <a:xfrm>
            <a:off x="8711078" y="2514600"/>
            <a:ext cx="1152249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BE-04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863328" y="2514600"/>
            <a:ext cx="1758696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表单与错误定位通过</a:t>
            </a:r>
          </a:p>
        </p:txBody>
      </p:sp>
      <p:sp>
        <p:nvSpPr>
          <p:cNvPr id="82" name="Rectangle 81"/>
          <p:cNvSpPr/>
          <p:nvPr/>
        </p:nvSpPr>
        <p:spPr>
          <a:xfrm>
            <a:off x="6345936" y="2766060"/>
            <a:ext cx="606446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FE-04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952382" y="2766060"/>
            <a:ext cx="1758696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批量上传与任务状态</a:t>
            </a:r>
          </a:p>
        </p:txBody>
      </p:sp>
      <p:sp>
        <p:nvSpPr>
          <p:cNvPr id="84" name="Rectangle 83"/>
          <p:cNvSpPr/>
          <p:nvPr/>
        </p:nvSpPr>
        <p:spPr>
          <a:xfrm>
            <a:off x="8711078" y="2766060"/>
            <a:ext cx="1152249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BE-05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9863328" y="2766060"/>
            <a:ext cx="1758696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逐文件成功 / 失败 / 重试通过</a:t>
            </a:r>
          </a:p>
        </p:txBody>
      </p:sp>
      <p:sp>
        <p:nvSpPr>
          <p:cNvPr id="86" name="Rectangle 85"/>
          <p:cNvSpPr/>
          <p:nvPr/>
        </p:nvSpPr>
        <p:spPr>
          <a:xfrm>
            <a:off x="6345936" y="3017520"/>
            <a:ext cx="606446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FE-05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6952382" y="3017520"/>
            <a:ext cx="1758696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OCR 校对与学生归属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711078" y="3017520"/>
            <a:ext cx="1152249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BE-06/07</a:t>
            </a:r>
          </a:p>
        </p:txBody>
      </p:sp>
      <p:sp>
        <p:nvSpPr>
          <p:cNvPr id="89" name="Rectangle 88"/>
          <p:cNvSpPr/>
          <p:nvPr/>
        </p:nvSpPr>
        <p:spPr>
          <a:xfrm>
            <a:off x="9863328" y="3017520"/>
            <a:ext cx="1758696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桌面与移动端校对通过</a:t>
            </a:r>
          </a:p>
        </p:txBody>
      </p:sp>
      <p:sp>
        <p:nvSpPr>
          <p:cNvPr id="90" name="Rectangle 89"/>
          <p:cNvSpPr/>
          <p:nvPr/>
        </p:nvSpPr>
        <p:spPr>
          <a:xfrm>
            <a:off x="6345936" y="3268980"/>
            <a:ext cx="606446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FE-06</a:t>
            </a:r>
          </a:p>
        </p:txBody>
      </p:sp>
      <p:sp>
        <p:nvSpPr>
          <p:cNvPr id="91" name="Rectangle 90"/>
          <p:cNvSpPr/>
          <p:nvPr/>
        </p:nvSpPr>
        <p:spPr>
          <a:xfrm>
            <a:off x="6952382" y="3268980"/>
            <a:ext cx="1758696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智能批改与教师复核</a:t>
            </a:r>
          </a:p>
        </p:txBody>
      </p:sp>
      <p:sp>
        <p:nvSpPr>
          <p:cNvPr id="92" name="Rectangle 91"/>
          <p:cNvSpPr/>
          <p:nvPr/>
        </p:nvSpPr>
        <p:spPr>
          <a:xfrm>
            <a:off x="8711078" y="3268980"/>
            <a:ext cx="1152249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BE-08/09/11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863328" y="3268980"/>
            <a:ext cx="1758696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证据、分数、原因与下一题通过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345936" y="3520440"/>
            <a:ext cx="606446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FE-07</a:t>
            </a:r>
          </a:p>
        </p:txBody>
      </p:sp>
      <p:sp>
        <p:nvSpPr>
          <p:cNvPr id="95" name="Rectangle 94"/>
          <p:cNvSpPr/>
          <p:nvPr/>
        </p:nvSpPr>
        <p:spPr>
          <a:xfrm>
            <a:off x="6952382" y="3520440"/>
            <a:ext cx="1758696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报告与导出</a:t>
            </a:r>
          </a:p>
        </p:txBody>
      </p:sp>
      <p:sp>
        <p:nvSpPr>
          <p:cNvPr id="96" name="Rectangle 95"/>
          <p:cNvSpPr/>
          <p:nvPr/>
        </p:nvSpPr>
        <p:spPr>
          <a:xfrm>
            <a:off x="8711078" y="3520440"/>
            <a:ext cx="1152249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BE-11/12</a:t>
            </a:r>
          </a:p>
        </p:txBody>
      </p:sp>
      <p:sp>
        <p:nvSpPr>
          <p:cNvPr id="97" name="Rectangle 96"/>
          <p:cNvSpPr/>
          <p:nvPr/>
        </p:nvSpPr>
        <p:spPr>
          <a:xfrm>
            <a:off x="9863328" y="3520440"/>
            <a:ext cx="1758696" cy="25146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正式 / AI 双口径及下载通过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345936" y="3771900"/>
            <a:ext cx="606446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FE-08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952382" y="3771900"/>
            <a:ext cx="1758696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全链路 E2E 与响应式修复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711078" y="3771900"/>
            <a:ext cx="1152249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全部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9863328" y="3771900"/>
            <a:ext cx="1758696" cy="251460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四个验收宽度与主流程通过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6345936" y="1737360"/>
            <a:ext cx="5276088" cy="2286000"/>
          </a:xfrm>
          <a:prstGeom prst="rect">
            <a:avLst/>
          </a:prstGeom>
          <a:noFill/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566928" y="4956048"/>
            <a:ext cx="5522976" cy="10972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749808" y="5065776"/>
            <a:ext cx="515721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Prompt 设计策略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“你是一位资深的产品经理。请根据当前的产品需求规格说明书和界面设计文档，撰写一份具体的开发任务文档，包括前后端开发流程、API 接口设计、前端页面布局与交互、后端业务逻辑实现与后续测试计划。”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6345936" y="4956048"/>
            <a:ext cx="5276088" cy="1097280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9525">
            <a:solidFill>
              <a:srgbClr val="C7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528816" y="5065776"/>
            <a:ext cx="4910328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关键价值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通过标准化 Prompt，AI 把设计语言快速翻译为开发语言：PRD 的编号与验收条件直接成为任务的退出条件，UI/UX 的页面与状态直接成为前端任务的范围，减少沟通成本并让交付可逐项核对。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5 章 · 核心功能模块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AI 共创开发前端（一）：Prompt 与开发流程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42415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前端 Prompt 的核心是把“按哪几份文档、交付什么标准”写清楚，让 AI 稳定扮演前端开发工程师角色。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4023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D3DDEC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55096" cy="10972"/>
          </a:xfrm>
          <a:prstGeom prst="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47104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批小智 · AI 自动批改作业智能体  |  AI 共创开发汇报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547104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23 / 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36192"/>
            <a:ext cx="5120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5.2.1 Prompt 设计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792224"/>
            <a:ext cx="5175504" cy="1572768"/>
          </a:xfrm>
          <a:prstGeom prst="roundRect">
            <a:avLst>
              <a:gd name="adj" fmla="val 5000"/>
            </a:avLst>
          </a:prstGeom>
          <a:solidFill>
            <a:srgbClr val="10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920240"/>
            <a:ext cx="4809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7DD3FC"/>
                </a:solidFill>
                <a:latin typeface="Microsoft YaHei"/>
                <a:ea typeface="Microsoft YaHei"/>
                <a:cs typeface="Microsoft YaHei"/>
              </a:rPr>
              <a:t>核心指令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157984"/>
            <a:ext cx="484632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“请按照以下文档进行批小智作业批改工作台的前端开发：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1. 产品需求规格说明书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2. UI/UX 设计文档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3. 开发技术文档（含任务拆分）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4. 后端已实现的接口契约（OpenAPI）”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49039"/>
            <a:ext cx="5175504" cy="566928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9525">
            <a:solidFill>
              <a:srgbClr val="C7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3858768"/>
            <a:ext cx="4809744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作用：</a:t>
            </a:r>
            <a:r>
              <a:rPr sz="950" b="0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明确 UI/UX 标准与功能边界，引导 AI 精准扮演前端开发工程师角色，并强制以后端契约为准。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98464" y="1536192"/>
            <a:ext cx="5623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5.2.2 全流程自动开发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98464" y="1792224"/>
            <a:ext cx="562356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1344" y="187452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0256" y="1856232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创建任务列表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20256" y="209397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生成组件开发、页面布局、状态处理等详细清单，并标注依赖。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98464" y="2505456"/>
            <a:ext cx="562356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1344" y="258775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0256" y="2569464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实现功能模块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20256" y="280720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基于 React + TypeScript 逐步实现上传、校对、批改、报告等模块。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98464" y="3218688"/>
            <a:ext cx="562356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81344" y="330098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0256" y="3282696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构建用户界面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20256" y="352044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严格遵循 UI/UX 文档生成页面布局与样式，使用统一设计 token。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98464" y="3931920"/>
            <a:ext cx="562356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81344" y="40142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0256" y="3995928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响应式适配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0256" y="423367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在 375 / 768 / 1024 / 1440px 四个验收宽度下保持一致与可用。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998464" y="4718304"/>
            <a:ext cx="5623560" cy="1554480"/>
          </a:xfrm>
          <a:prstGeom prst="roundRect">
            <a:avLst>
              <a:gd name="adj" fmla="val 5000"/>
            </a:avLst>
          </a:prstGeom>
          <a:solidFill>
            <a:srgbClr val="10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81344" y="4846320"/>
            <a:ext cx="5257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7DD3FC"/>
                </a:solidFill>
                <a:latin typeface="Microsoft YaHei"/>
                <a:ea typeface="Microsoft YaHei"/>
                <a:cs typeface="Microsoft YaHei"/>
              </a:rPr>
              <a:t>AI 生成的任务进度跟踪示例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81344" y="5084064"/>
            <a:ext cx="5294376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[x] 应用壳与应用壳内页面视图      [x] api/client.ts 接口封装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[x] 登录 / 注册与会话恢复          [x] 批次列表与筛选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[x] 批次创建与题目 / 评分配置      [x] 批量上传与逐文件状态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[x] OCR 校对与答案编辑            [x] 复核队列与证据链详情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 ] 报告详情回看（进行中）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5 章 · 核心功能模块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AI 共创开发前端（二）：架构与核心代码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42415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前端不自行拼接接口 URL，统一走 api/client.ts；页面刷新后必须能恢复批次与页面上下文。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4023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D3DDEC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55096" cy="10972"/>
          </a:xfrm>
          <a:prstGeom prst="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47104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批小智 · AI 自动批改作业智能体  |  AI 共创开发汇报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547104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24 / 37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554480"/>
            <a:ext cx="4224528" cy="4480560"/>
          </a:xfrm>
          <a:prstGeom prst="roundRect">
            <a:avLst>
              <a:gd name="adj" fmla="val 5000"/>
            </a:avLst>
          </a:prstGeom>
          <a:solidFill>
            <a:srgbClr val="10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682496"/>
            <a:ext cx="385876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7DD3FC"/>
                </a:solidFill>
                <a:latin typeface="Microsoft YaHei"/>
                <a:ea typeface="Microsoft YaHei"/>
                <a:cs typeface="Microsoft YaHei"/>
              </a:rPr>
              <a:t>前端架构目录（Frontend Structure）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920240"/>
            <a:ext cx="3895344" cy="4005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frontend/src/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├── App.tsx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│     # 应用壳、导航与全部页面视图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├── api/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│     └── client.ts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│           # 接口封装、错误类型、任务轮询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├── utils/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│     ├── question-structure.ts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│     │     # 题目数量与题型规则识别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│     └── ocr-reading-order.ts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│           # OCR 文本按坐标重排阅读顺序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├── styles.css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│     # 设计 token、组件样式、响应式规则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└── main.tsx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47488" y="1536192"/>
            <a:ext cx="657453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核心功能模块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47488" y="1792224"/>
            <a:ext cx="6574536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93792" y="1883664"/>
            <a:ext cx="62819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批量上传与逐文件状态：区分 question_paper 与 student_work，失败项可单独重试。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47488" y="2249424"/>
            <a:ext cx="6574536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93792" y="2340864"/>
            <a:ext cx="62819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OCR 校对与归属：原图只读预览，答案、页序与空题确认分别留痕。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47488" y="2706624"/>
            <a:ext cx="6574536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3792" y="2798064"/>
            <a:ext cx="62819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复核与证据链：客观题显示规则与判分理由，主观题显示评分点、证据与扣分原因。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47488" y="3163824"/>
            <a:ext cx="6574536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93792" y="3255264"/>
            <a:ext cx="62819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报告与导出：正式成绩与 AI 初评参考双口径切换，导出任务状态可查询。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47488" y="3712463"/>
            <a:ext cx="6574536" cy="2560320"/>
          </a:xfrm>
          <a:prstGeom prst="roundRect">
            <a:avLst>
              <a:gd name="adj" fmla="val 5000"/>
            </a:avLst>
          </a:prstGeom>
          <a:solidFill>
            <a:srgbClr val="10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30368" y="3840479"/>
            <a:ext cx="620877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7DD3FC"/>
                </a:solidFill>
                <a:latin typeface="Microsoft YaHei"/>
                <a:ea typeface="Microsoft YaHei"/>
                <a:cs typeface="Microsoft YaHei"/>
              </a:rPr>
              <a:t>src/api/client.ts 关键结构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0368" y="4078223"/>
            <a:ext cx="6245352" cy="20848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export class ApiClientError extends Error {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code: string;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details?: unknown;      // 后端 details 直接展示给教师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export const api = {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auth:    { login, register, session, logout },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classes: { list, students, update },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batches: { list, create, validate, ocrTask, gradingRuns },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files:   { upload, uploadQuestionPaper, remove, purge },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pages:   { detail, grouping, correction, confirm },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grading: { reviewQueue, saveReview, confirm, rerun },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reports: { summary, student, createExport },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5 章 · 核心功能模块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AI 共创开发后端（一）：Prompt 与开发流程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42415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后端 Prompt 必须显式要求“不可编造”：不能造假成功、假进度、假统计，未完成能力要明确返回错误码。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4023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D3DDEC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55096" cy="10972"/>
          </a:xfrm>
          <a:prstGeom prst="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47104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批小智 · AI 自动批改作业智能体  |  AI 共创开发汇报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547104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25 / 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36192"/>
            <a:ext cx="51206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5.3.1 Prompt 设计核心指令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792224"/>
            <a:ext cx="5175504" cy="2048256"/>
          </a:xfrm>
          <a:prstGeom prst="roundRect">
            <a:avLst>
              <a:gd name="adj" fmla="val 5000"/>
            </a:avLst>
          </a:prstGeom>
          <a:solidFill>
            <a:srgbClr val="10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920240"/>
            <a:ext cx="4809744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7DD3FC"/>
                </a:solidFill>
                <a:latin typeface="Microsoft YaHei"/>
                <a:ea typeface="Microsoft YaHei"/>
                <a:cs typeface="Microsoft YaHei"/>
              </a:rPr>
              <a:t>核心指令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2157984"/>
            <a:ext cx="4846320" cy="1572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“请按照以下文档进行批小智作业批改工作台的后端开发：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1. 已完成的前端开发代码与接口调用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2. 产品需求规格说明书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3. 开发技术文档（含数据库与 API 契约）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约束：不得用假成功、假进度、假统计掩盖未完成能力；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API Key 只能由后端运行时读取，不得写入前端、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SQLite 明文、日志或导出文件。”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078224"/>
            <a:ext cx="5175504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0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通过此 Prompt，AI 能够精准理解开发目标与约束条件，自动切换至“后端开发工程师”角色，输出结果与 PRD 的编号、状态枚举和错误码保持同一套口径。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98464" y="1536192"/>
            <a:ext cx="562356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5.3.2 全流程自动开发步骤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98464" y="1792224"/>
            <a:ext cx="562356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81344" y="1874520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20256" y="1856232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创建任务列表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0256" y="2093976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生成详细开发清单并实时跟踪进度，任务粒度与 BE-01…BE-12 对齐。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98464" y="2505456"/>
            <a:ext cx="562356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81344" y="2587752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20256" y="2569464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实现功能模块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20256" y="2807208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按列表逐一输出模块核心代码，含模型、Schema、服务与路由。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98464" y="3218688"/>
            <a:ext cx="562356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81344" y="3300984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0256" y="3282696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生成配置文件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20256" y="3520440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自动产出 requirements.txt、alembic.ini 与环境变量示例。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98464" y="3931920"/>
            <a:ext cx="5623560" cy="62179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81344" y="4014216"/>
            <a:ext cx="365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0256" y="3995928"/>
            <a:ext cx="484632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输出说明文档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20256" y="4233672"/>
            <a:ext cx="4846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提供部署与运行指南：迁移、种子账号、Worker 启动与健康检查。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98464" y="4718304"/>
            <a:ext cx="5623560" cy="1554480"/>
          </a:xfrm>
          <a:prstGeom prst="roundRect">
            <a:avLst>
              <a:gd name="adj" fmla="val 5000"/>
            </a:avLst>
          </a:prstGeom>
          <a:solidFill>
            <a:srgbClr val="10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81344" y="4846320"/>
            <a:ext cx="5257800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7DD3FC"/>
                </a:solidFill>
                <a:latin typeface="Microsoft YaHei"/>
                <a:ea typeface="Microsoft YaHei"/>
                <a:cs typeface="Microsoft YaHei"/>
              </a:rPr>
              <a:t>后端任务进度跟踪示例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81344" y="5084064"/>
            <a:ext cx="5294376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[x] models.py / schemas.py          [x] auth + 会话与权限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[x] classes / batches / questions   [x] files 上传与页面生成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[x] ocr_worker + ocr_graph          [x] grading_worker + grading_graph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[x] review + reports + exports      [-] 主观题真实模型回归（待 Key）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5 章 · 核心功能模块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AI 共创开发后端（二）：架构与核心代码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42415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FastAPI 只负责创建任务与查询任务；耗时处理全部交给独立 Worker，保证请求不被长任务阻塞。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4023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D3DDEC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55096" cy="10972"/>
          </a:xfrm>
          <a:prstGeom prst="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47104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批小智 · AI 自动批改作业智能体  |  AI 共创开发汇报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547104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26 / 37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554480"/>
            <a:ext cx="4956048" cy="4480560"/>
          </a:xfrm>
          <a:prstGeom prst="roundRect">
            <a:avLst>
              <a:gd name="adj" fmla="val 5000"/>
            </a:avLst>
          </a:prstGeom>
          <a:solidFill>
            <a:srgbClr val="10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682496"/>
            <a:ext cx="459028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7DD3FC"/>
                </a:solidFill>
                <a:latin typeface="Microsoft YaHei"/>
                <a:ea typeface="Microsoft YaHei"/>
                <a:cs typeface="Microsoft YaHei"/>
              </a:rPr>
              <a:t>后端架构目录（Backend Structure）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920240"/>
            <a:ext cx="4626864" cy="4005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backend/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├── app/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│    ├── main.py           # FastAPI 入口与路由注册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│    ├── api/              # auth / classes / batches / files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│    │                     # ocr / grading / reports / settings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│    ├── models.py         # SQLAlchemy ORM 模型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│    ├── schemas.py        # Pydantic 请求与响应模型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│    ├── workflows/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│    │    ├── ocr_graph.py       # LangGraph OCR 状态图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│    │    └── grading_graph.py   # LangGraph 批改状态图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│    ├── ocr_worker.py           # OCR 任务 Worker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│    ├── grading_worker.py       # 批改任务 Worker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│    ├── report_export_worker.py # 报告导出 Worker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│    └── ocr_reading_order.py    # 文本按坐标重排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├── migrations/            # Alembic 版本化迁移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├── scripts/               # 初始化 / 种子账号 / OCR 运行时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5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└── requirements.txt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79008" y="1536192"/>
            <a:ext cx="5843016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核心功能实现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779008" y="1792224"/>
            <a:ext cx="5843016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25312" y="1874520"/>
            <a:ext cx="55504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文件上传与存储：RESTful 接口接收文件，内容检测 + SHA-256 + 原子改名，原图只读。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779008" y="2212848"/>
            <a:ext cx="5843016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25312" y="2295144"/>
            <a:ext cx="55504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OCR 编排服务：LangGraph 状态图驱动，输出文本块、坐标、置信度与工作流 trace。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779008" y="2633472"/>
            <a:ext cx="5843016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25312" y="2715768"/>
            <a:ext cx="55504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评分服务：客观题规则引擎；主观题 OpenAI 兼容适配器 + 严格 JSON 与分值校验。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779008" y="3054096"/>
            <a:ext cx="5843016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25312" y="3136392"/>
            <a:ext cx="555040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· </a:t>
            </a: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报告与导出：report_exports 任务表 + 独立导出 Worker，支持 PDF / docx 两种格式。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779008" y="3547872"/>
            <a:ext cx="5843016" cy="2834640"/>
          </a:xfrm>
          <a:prstGeom prst="roundRect">
            <a:avLst>
              <a:gd name="adj" fmla="val 5000"/>
            </a:avLst>
          </a:prstGeom>
          <a:solidFill>
            <a:srgbClr val="10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61888" y="3675888"/>
            <a:ext cx="547725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7DD3FC"/>
                </a:solidFill>
                <a:latin typeface="Microsoft YaHei"/>
                <a:ea typeface="Microsoft YaHei"/>
                <a:cs typeface="Microsoft YaHei"/>
              </a:rPr>
              <a:t>backend/app/workflows/ocr_graph.py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61888" y="3913632"/>
            <a:ext cx="5513832" cy="23591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from langgraph.graph import StateGraph, END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def build_ocr_graph():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g = StateGraph(OcrState)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g.add_node("load_file", load_file)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g.add_node("validate_file", validate_file)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g.add_node("split_pages", split_pages)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g.add_node("preprocess_page", preprocess_page)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g.add_node("suggest_grouping", suggest_grouping)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g.add_node("run_paddleocr", run_paddleocr)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g.add_node("persist_raw_ocr", persist_raw_ocr)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g.add_node("detect_ocr_anomaly", detect_ocr_anomaly)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g.add_node("persist_page_state", persist_page_state)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g.set_entry_point("load_file")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g.add_edge("persist_page_state", END)  # 终点：等待教师校对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8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return g.compile()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46520" cy="68580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46520" y="0"/>
            <a:ext cx="574544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38928" y="822960"/>
            <a:ext cx="1051560" cy="1051560"/>
          </a:xfrm>
          <a:prstGeom prst="ellipse">
            <a:avLst/>
          </a:prstGeom>
          <a:solidFill>
            <a:srgbClr val="1B3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138928" y="448056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47088"/>
            <a:ext cx="4023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600" b="1">
                <a:solidFill>
                  <a:srgbClr val="2B59A8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401568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核心技术实现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114800"/>
            <a:ext cx="1371600" cy="4572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315968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A8BCD8"/>
                </a:solidFill>
                <a:latin typeface="Microsoft YaHei"/>
                <a:ea typeface="Microsoft YaHei"/>
                <a:cs typeface="Microsoft YaHei"/>
              </a:rPr>
              <a:t>OCR 分流与实测边界、学生多页归属、LangGraph 批改编排，
以及把“不可编造”写进提示词的工程约束。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46304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0608" y="18745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6096" y="18562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项目背景与需求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8" y="23317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6096" y="23134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整体架构与技术选型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0608" y="27889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6096" y="27706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AI 共创 PRD 文档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0608" y="32461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6096" y="32278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AI 共创 UI/UX 文档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0608" y="37033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6096" y="36850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核心功能模块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67728" y="4114799"/>
            <a:ext cx="4572000" cy="402336"/>
          </a:xfrm>
          <a:prstGeom prst="roundRect">
            <a:avLst>
              <a:gd name="adj" fmla="val 14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150608" y="41605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6096" y="41422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核心技术实现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50608" y="46177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6096" y="45994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验证、验收与交付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1722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D3DDEC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6 章 · 核心技术实现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OCR 识别技术：强制链路与模型分流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42415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每种识别都必须执行同一条强制链路，避免把“整页直接交给模型”当作可用方案。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4023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D3DDEC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55096" cy="10972"/>
          </a:xfrm>
          <a:prstGeom prst="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47104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批小智 · AI 自动批改作业智能体  |  AI 共创开发汇报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547104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28 / 37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517904"/>
            <a:ext cx="11055096" cy="512064"/>
          </a:xfrm>
          <a:prstGeom prst="roundRect">
            <a:avLst>
              <a:gd name="adj" fmla="val 10000"/>
            </a:avLst>
          </a:prstGeom>
          <a:solidFill>
            <a:srgbClr val="FFF7ED"/>
          </a:solidFill>
          <a:ln w="9525">
            <a:solidFill>
              <a:srgbClr val="F5D0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618488"/>
            <a:ext cx="10607040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强制链路（用户已确认）：</a:t>
            </a:r>
            <a:r>
              <a:rPr sz="10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图片预处理  →  识别区域提取 / 裁剪  →  对应模型识别</a:t>
            </a:r>
            <a:r>
              <a:rPr sz="10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　　三者缺一不可，任何“直接把整页送进模型”的做法都不作为正式产品能力。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2157984"/>
            <a:ext cx="2103120" cy="29260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识别对象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70048" y="2157984"/>
            <a:ext cx="3931920" cy="29260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模型与口径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450592"/>
            <a:ext cx="210312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英文 / 中文普通文字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70048" y="2450592"/>
            <a:ext cx="393192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PaddleOCR PP-OCRv5（检测 + 识别）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852928"/>
            <a:ext cx="2103120" cy="402336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中文手写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70048" y="2852928"/>
            <a:ext cx="3931920" cy="402336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ch_SVTRv2_rec（工程选型）；PP-OCRv5_server_rec 保留为对照基线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255264"/>
            <a:ext cx="210312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英文手写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70048" y="3255264"/>
            <a:ext cx="393192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OpenCV 切行 → TrOCR（英文单行手写模型，batch size=1）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657600"/>
            <a:ext cx="2103120" cy="402336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数学手写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70048" y="3657600"/>
            <a:ext cx="3931920" cy="402336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PP-OCRv5 候选筛选 → TexTeller（当前产品配置）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059936"/>
            <a:ext cx="210312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数学印刷公式候选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70048" y="4059936"/>
            <a:ext cx="3931920" cy="40233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PaddleOCR 初筛 → PP-FormulaNet_plus-M → LaTeX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4462272"/>
            <a:ext cx="2103120" cy="402336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印刷体扩展回归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70048" y="4462272"/>
            <a:ext cx="3931920" cy="402336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PaddleOCR，用于链路回归验证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2157984"/>
            <a:ext cx="6035040" cy="2706624"/>
          </a:xfrm>
          <a:prstGeom prst="rect">
            <a:avLst/>
          </a:prstGeom>
          <a:noFill/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0" y="2139696"/>
            <a:ext cx="4764024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LangGraph OCR 图节点（10 步）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58000" y="2414016"/>
            <a:ext cx="4764024" cy="26517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04304" y="2464308"/>
            <a:ext cx="447141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01  </a:t>
            </a:r>
            <a:r>
              <a:rPr sz="950" b="0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load_file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858000" y="2729484"/>
            <a:ext cx="4764024" cy="26517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04304" y="2779776"/>
            <a:ext cx="447141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02  </a:t>
            </a:r>
            <a:r>
              <a:rPr sz="950" b="0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validate_file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0" y="3044952"/>
            <a:ext cx="4764024" cy="26517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004304" y="3095244"/>
            <a:ext cx="447141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03  </a:t>
            </a:r>
            <a:r>
              <a:rPr sz="950" b="0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split_pages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0" y="3360420"/>
            <a:ext cx="4764024" cy="26517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04304" y="3410712"/>
            <a:ext cx="447141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04  </a:t>
            </a:r>
            <a:r>
              <a:rPr sz="950" b="0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preprocess_page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0" y="3675888"/>
            <a:ext cx="4764024" cy="26517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04304" y="3726180"/>
            <a:ext cx="447141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05  </a:t>
            </a:r>
            <a:r>
              <a:rPr sz="950" b="0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suggest_grouping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858000" y="3991356"/>
            <a:ext cx="4764024" cy="26517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04304" y="4041648"/>
            <a:ext cx="447141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06  </a:t>
            </a:r>
            <a:r>
              <a:rPr sz="950" b="0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run_paddleocr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0" y="4306824"/>
            <a:ext cx="4764024" cy="26517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004304" y="4357116"/>
            <a:ext cx="447141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07  </a:t>
            </a:r>
            <a:r>
              <a:rPr sz="950" b="0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persist_raw_ocr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858000" y="4622292"/>
            <a:ext cx="4764024" cy="26517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04304" y="4672584"/>
            <a:ext cx="447141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08  </a:t>
            </a:r>
            <a:r>
              <a:rPr sz="950" b="0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detect_ocr_anomaly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58000" y="4937760"/>
            <a:ext cx="4764024" cy="265176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04304" y="4988052"/>
            <a:ext cx="447141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09  </a:t>
            </a:r>
            <a:r>
              <a:rPr sz="950" b="0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persist_page_state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58000" y="5253228"/>
            <a:ext cx="4764024" cy="265176"/>
          </a:xfrm>
          <a:prstGeom prst="roundRect">
            <a:avLst>
              <a:gd name="adj" fmla="val 18000"/>
            </a:avLst>
          </a:prstGeom>
          <a:solidFill>
            <a:srgbClr val="FFF7ED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04304" y="5303520"/>
            <a:ext cx="447141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1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10  </a:t>
            </a:r>
            <a:r>
              <a:rPr sz="95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wait_for_teacher_correction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858000" y="5586984"/>
            <a:ext cx="4764024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85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wait_for_teacher_correction 是人为控制点：流程不把低置信度 OCR 当作空答案，也不在未确认学生归属时进入评分。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6 章 · 核心技术实现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OCR 实测结果与证据边界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42415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以下均为项目内真实运行产物，逐条标注样本量、口径与状态；未同时满足准入条件的数字一律不写成“达标”。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4023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D3DDEC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55096" cy="10972"/>
          </a:xfrm>
          <a:prstGeom prst="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47104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批小智 · AI 自动批改作业智能体  |  AI 共创开发汇报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547104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29 / 37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517904"/>
            <a:ext cx="2284110" cy="29260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评测组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51038" y="1517904"/>
            <a:ext cx="1827288" cy="29260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样本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78327" y="1517904"/>
            <a:ext cx="1827288" cy="29260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真值规模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05615" y="1517904"/>
            <a:ext cx="2192746" cy="29260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实测结果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98362" y="1517904"/>
            <a:ext cx="2923661" cy="29260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状态与边界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1810512"/>
            <a:ext cx="2284110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中文工整手写（PP-OCRv5）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851038" y="1810512"/>
            <a:ext cx="1827288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30 份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78327" y="1810512"/>
            <a:ext cx="1827288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6299 字符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505615" y="1810512"/>
            <a:ext cx="2192746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字符准确率 84.46%（CER 15.54%）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98362" y="1810512"/>
            <a:ext cx="2923661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低于任务书 85% 门槛，作为已知风险保留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2295144"/>
            <a:ext cx="2284110" cy="4846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英文手写（TrOCR large）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51038" y="2295144"/>
            <a:ext cx="1827288" cy="4846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30 张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78327" y="2295144"/>
            <a:ext cx="1827288" cy="4846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16270 字符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05615" y="2295144"/>
            <a:ext cx="2192746" cy="4846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raw 82.38% / 置信度过滤 89.26%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98362" y="2295144"/>
            <a:ext cx="2923661" cy="4846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探索性候选，raw 与过滤结果必须同时保留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2779776"/>
            <a:ext cx="2284110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中文手写识别器同 crop 对比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851038" y="2779776"/>
            <a:ext cx="1827288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357 区域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78327" y="2779776"/>
            <a:ext cx="1827288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5104 字符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05615" y="2779776"/>
            <a:ext cx="2192746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SVTRv2 88.71% vs PP-OCRv5 86.89%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98362" y="2779776"/>
            <a:ext cx="2923661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仅用于识别器选型，不代表页面端到端链路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3264408"/>
            <a:ext cx="2284110" cy="4846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数学手写（TexTeller）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851038" y="3264408"/>
            <a:ext cx="1827288" cy="4846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30 页 / 464 候选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78327" y="3264408"/>
            <a:ext cx="1827288" cy="4846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107 条人工核验候选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505615" y="3264408"/>
            <a:ext cx="2192746" cy="4846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字符级 75.70%（严格完全匹配 34.58%）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698362" y="3264408"/>
            <a:ext cx="2923661" cy="4846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工程基线，不是 30 页整体准确率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3749040"/>
            <a:ext cx="2284110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数学手写（UniMERNet 对照）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851038" y="3749040"/>
            <a:ext cx="1827288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107 条候选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78327" y="3749040"/>
            <a:ext cx="1827288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2099 字符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505615" y="3749040"/>
            <a:ext cx="2192746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字符级 65.41%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98362" y="3749040"/>
            <a:ext cx="2923661" cy="4846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低于 TexTeller，未作为产品配置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4233672"/>
            <a:ext cx="2284110" cy="4846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印刷体扩展回归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51038" y="4233672"/>
            <a:ext cx="1827288" cy="4846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英/中/数各 10 张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78327" y="4233672"/>
            <a:ext cx="1827288" cy="4846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每组不足 5000 字符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505615" y="4233672"/>
            <a:ext cx="2192746" cy="4846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99.81% / 100% / 91.11%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8698362" y="4233672"/>
            <a:ext cx="2923661" cy="484632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状态 NOT_READY，仅证明回归链路运行正常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1517904"/>
            <a:ext cx="11055096" cy="3200400"/>
          </a:xfrm>
          <a:prstGeom prst="rect">
            <a:avLst/>
          </a:prstGeom>
          <a:noFill/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566928" y="4718304"/>
            <a:ext cx="11055096" cy="1298448"/>
          </a:xfrm>
          <a:prstGeom prst="roundRect">
            <a:avLst>
              <a:gd name="adj" fmla="val 8000"/>
            </a:avLst>
          </a:prstGeom>
          <a:solidFill>
            <a:srgbClr val="FFF1F2"/>
          </a:solidFill>
          <a:ln w="9525">
            <a:solidFill>
              <a:srgbClr val="F3C9C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86384" y="4828032"/>
            <a:ext cx="10607040" cy="11155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0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计算口径：</a:t>
            </a:r>
            <a:r>
              <a:rPr sz="950" b="0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max(0, 1 − Levenshtein(真值, OCR 文本) / 真值可见字符数)；Unicode 先做 NFKC 规范化，空白符不计入主指标，标点、数字、汉字与英文字符保留。</a:t>
            </a:r>
          </a:p>
          <a:p>
            <a:pPr algn="l">
              <a:lnSpc>
                <a:spcPct val="130000"/>
              </a:lnSpc>
              <a:spcAft>
                <a:spcPts val="500"/>
              </a:spcAft>
            </a:pPr>
            <a:r>
              <a:rPr sz="100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正式阈值准入条件（五项须同时满足）：</a:t>
            </a:r>
            <a:r>
              <a:rPr sz="950" b="0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① subject 合法（english / chinese / math） ② split=test ③ ground_truth_verified=true ④ 印刷体标注 printed_confirmed / 手写体标注 neat_confirmed 并填写核验人 ⑤ 每组真值可见字符 ≥ 5000</a:t>
            </a:r>
          </a:p>
          <a:p>
            <a:pPr algn="l">
              <a:lnSpc>
                <a:spcPct val="130000"/>
              </a:lnSpc>
            </a:pPr>
            <a:r>
              <a:rPr sz="950" b="1">
                <a:solidFill>
                  <a:srgbClr val="B91C1C"/>
                </a:solidFill>
                <a:latin typeface="Microsoft YaHei"/>
                <a:ea typeface="Microsoft YaHei"/>
                <a:cs typeface="Microsoft YaHei"/>
              </a:rPr>
              <a:t>当前六组均未同时满足上述条件，因此上表数字统一标注为工程探索性结果。“流程成功”“输出非空”“模型置信度”“候选数量”都不能替代字符级准确率。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6 章 · 核心技术实现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学生多页作业归属与答案结构化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42415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归属与页序错误会把答案分配给错误学生，是整条链路中风险最高的数据错配环节。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4023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D3DDEC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55096" cy="10972"/>
          </a:xfrm>
          <a:prstGeom prst="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47104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批小智 · AI 自动批改作业智能体  |  AI 共创开发汇报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547104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30 / 37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517904"/>
            <a:ext cx="2048845" cy="27432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字段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15773" y="1517904"/>
            <a:ext cx="3474130" cy="27432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说明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792224"/>
            <a:ext cx="2048845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student_id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15773" y="1792224"/>
            <a:ext cx="347413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归属学生；无法识别时为空并进入人工确认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153412"/>
            <a:ext cx="2048845" cy="36118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assignment_group_id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15773" y="2153412"/>
            <a:ext cx="3474130" cy="36118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同一学生、同一批次下合并后的作业对象标识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514600"/>
            <a:ext cx="2048845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source_file_id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15773" y="2514600"/>
            <a:ext cx="347413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原始图片 / PDF 文件；一个作业对象可关联多个文件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875788"/>
            <a:ext cx="2048845" cy="36118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page_index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615773" y="2875788"/>
            <a:ext cx="3474130" cy="36118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原文件内的页序，只读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3236976"/>
            <a:ext cx="2048845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page_sequence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15773" y="3236976"/>
            <a:ext cx="347413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合并后的作业内页序，教师可调整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3598164"/>
            <a:ext cx="2048845" cy="36118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grouping_confidence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15773" y="3598164"/>
            <a:ext cx="3474130" cy="36118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自动归属置信度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3959352"/>
            <a:ext cx="2048845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grouping_reason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15773" y="3959352"/>
            <a:ext cx="347413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归属依据：文件名、页眉学号、连续页码或人工指定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66928" y="4320540"/>
            <a:ext cx="2048845" cy="36118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grouping_status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15773" y="4320540"/>
            <a:ext cx="3474130" cy="36118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suggested / confirmed / needs_review / failed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4681728"/>
            <a:ext cx="2048845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confirmed_by / confirmed_at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15773" y="4681728"/>
            <a:ext cx="3474130" cy="3611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人工确认人与确认时间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1517904"/>
            <a:ext cx="5522976" cy="3525012"/>
          </a:xfrm>
          <a:prstGeom prst="rect">
            <a:avLst/>
          </a:prstGeom>
          <a:noFill/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345936" y="1517904"/>
            <a:ext cx="5276088" cy="17739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345936" y="1517904"/>
            <a:ext cx="50292" cy="1773936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47104" y="1664208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必须人工确认的时机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47104" y="2011680"/>
            <a:ext cx="4892040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· 首次自动归并完成后　· 检测到学生标识冲突时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· 页序不连续或出现重复时　· 同一学生出现多个候选作业对象时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· 系统无法可靠判断页面归属时　· 跨页答案出现空题与有答案冲突时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45936" y="3419856"/>
            <a:ext cx="5276088" cy="144475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345936" y="3419856"/>
            <a:ext cx="50292" cy="14447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47104" y="3566160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失败兜底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547104" y="3913632"/>
            <a:ext cx="4892040" cy="8412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保留原文件与单页记录，标记为 needs_review；教师可手动选择学生、调整页序、拆分或合并作业对象、重试自动识别或暂存草稿。未确认前不得进入最终评分汇总。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45936" y="4992624"/>
            <a:ext cx="5276088" cy="1042415"/>
          </a:xfrm>
          <a:prstGeom prst="roundRect">
            <a:avLst>
              <a:gd name="adj" fmla="val 8000"/>
            </a:avLst>
          </a:prstGeom>
          <a:solidFill>
            <a:srgbClr val="ECFDF3"/>
          </a:solidFill>
          <a:ln w="9525">
            <a:solidFill>
              <a:srgbClr val="B7E1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28816" y="5102352"/>
            <a:ext cx="4910328" cy="8595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校对硬规则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有文本时不能同时确认未作答；页序必须为正整数且同一学生不得重复；跨页答案按 page_sequence 拼接；修改归属、页序或答案后，关联评分结果立即标记为 stale。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6 章 · 核心技术实现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智能批改技术：LangGraph 编排与结构化输出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42415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批改链路把“可解释”放在与“算分”同等重要的位置：每个分数都必须带依据、版本与复核状态。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4023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D3DDEC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55096" cy="10972"/>
          </a:xfrm>
          <a:prstGeom prst="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47104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批小智 · AI 自动批改作业智能体  |  AI 共创开发汇报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547104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31 / 37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1536192"/>
            <a:ext cx="5522976" cy="4498848"/>
          </a:xfrm>
          <a:prstGeom prst="roundRect">
            <a:avLst>
              <a:gd name="adj" fmla="val 5000"/>
            </a:avLst>
          </a:prstGeom>
          <a:solidFill>
            <a:srgbClr val="10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664208"/>
            <a:ext cx="5157216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7DD3FC"/>
                </a:solidFill>
                <a:latin typeface="Microsoft YaHei"/>
                <a:ea typeface="Microsoft YaHei"/>
                <a:cs typeface="Microsoft YaHei"/>
              </a:rPr>
              <a:t>批改流程节点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1901952"/>
            <a:ext cx="5193792" cy="4023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backend/app/workflows/grading_graph.py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01  load_batch_config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02  validate_batch_config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03  load_confirmed_answers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04  dispatch_question_type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05  objective_rule_score │ subjective_llm_score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06  validate_score_schema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07  detect_anomalies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08  persist_suggested_result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09  aggregate_student_status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10  enqueue_teacher_review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题型分派依据 question_type + 参考答案 + 规则版本；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无法分派、答案缺失或规则缺失 → 进入异常队列；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规则结果与模型结果同样只标记为“建议 / 待复核”。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45936" y="1517904"/>
            <a:ext cx="52760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主观题结构化输出（严格 JSON）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45936" y="1773936"/>
            <a:ext cx="5276088" cy="2194560"/>
          </a:xfrm>
          <a:prstGeom prst="roundRect">
            <a:avLst>
              <a:gd name="adj" fmla="val 5000"/>
            </a:avLst>
          </a:prstGeom>
          <a:solidFill>
            <a:srgbClr val="101B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8816" y="1901952"/>
            <a:ext cx="4910328" cy="182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7DD3FC"/>
                </a:solidFill>
                <a:latin typeface="Microsoft YaHei"/>
                <a:ea typeface="Microsoft YaHei"/>
                <a:cs typeface="Microsoft YaHei"/>
              </a:rPr>
              <a:t>主观题输出结构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8816" y="2139696"/>
            <a:ext cx="4946904" cy="1719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"score": 11,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"points": [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{ "point_id": "rp_001", "score": 5, "max_score": 6,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"evidence": "学生答案中的相关证据",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    "deduction_reason": "与评分点要求的差异" }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],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"comment": "鼓励性、建设性的评语",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  "review_required": true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900" b="0">
                <a:solidFill>
                  <a:srgbClr val="E2E8F0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45936" y="4096512"/>
            <a:ext cx="5276088" cy="96926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45936" y="4096512"/>
            <a:ext cx="50292" cy="969264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47104" y="4242816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分数硬校验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7104" y="459028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0 ≤ score ≤ question.max_score；分项分数之和 = 题目总分；全部题目分值之和 = 批次总分。越界即拒绝保存并进入异常。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45936" y="5193792"/>
            <a:ext cx="5276088" cy="841248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9525">
            <a:solidFill>
              <a:srgbClr val="C7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28816" y="5294376"/>
            <a:ext cx="4910328" cy="676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局部失效与部分重跑</a:t>
            </a:r>
          </a:p>
          <a:p>
            <a:pPr algn="l">
              <a:lnSpc>
                <a:spcPct val="128000"/>
              </a:lnSpc>
            </a:pP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输入指纹任一变化即失效：题目配置版本 / 当前答案版本 / 评分标准版本 / 规则版本 / 模型版本 / 提示词版本；只重跑受影响题目及其汇总，已复核题重跑需二次确认并填写原因。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6 章 · 核心技术实现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提示词工程与多轮迭代策略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42415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高效协同不依赖单次提示词的幸运命中，而依赖一套可复用的迭代流程与不可编造的约束。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4023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D3DDEC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55096" cy="10972"/>
          </a:xfrm>
          <a:prstGeom prst="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47104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批小智 · AI 自动批改作业智能体  |  AI 共创开发汇报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547104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32 / 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17904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提示词设计四原则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792224"/>
            <a:ext cx="5522976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1792224"/>
            <a:ext cx="50292" cy="841248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1938528"/>
            <a:ext cx="51389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角色定位明确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2286000"/>
            <a:ext cx="51389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设定 AI 身份（产品经理 / 前端 / 后端工程师），确保产出专业度与约束意识。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724912"/>
            <a:ext cx="5522976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66928" y="2724912"/>
            <a:ext cx="50292" cy="841248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8096" y="2871216"/>
            <a:ext cx="51389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需求描述清晰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8096" y="3218688"/>
            <a:ext cx="51389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具体、详细地描述任务目标与交付形态，避免模糊指令导致反复返工。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657600"/>
            <a:ext cx="5522976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657600"/>
            <a:ext cx="50292" cy="841248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3803904"/>
            <a:ext cx="51389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提供上下文信息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4151376"/>
            <a:ext cx="51389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补充 PRD、UI/UX、开发技术文档与既有代码，增强理解的准确性。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590288"/>
            <a:ext cx="5522976" cy="8412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590288"/>
            <a:ext cx="50292" cy="8412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68096" y="4736592"/>
            <a:ext cx="51389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分步骤迭代优化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8096" y="5084064"/>
            <a:ext cx="5138928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先获取整体框架，确认无误后再深入具体模块，层层递进。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45936" y="1517904"/>
            <a:ext cx="52760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多轮对话优化策略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45936" y="1792224"/>
            <a:ext cx="527608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45936" y="1792224"/>
            <a:ext cx="50292" cy="9144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47104" y="1938528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先框架后细节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47104" y="2286000"/>
            <a:ext cx="4892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0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先生成整体结构与章节，确认无误后再逐章细化，避免大范围重写。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45936" y="2798064"/>
            <a:ext cx="527608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45936" y="2798064"/>
            <a:ext cx="50292" cy="9144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47104" y="2944368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及时反馈修改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47104" y="3291840"/>
            <a:ext cx="4892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0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评估输出结果并给出具体修改意见（缺什么、哪里错），引导优化方向。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45936" y="3803904"/>
            <a:ext cx="5276088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45936" y="3803904"/>
            <a:ext cx="50292" cy="9144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47104" y="3950208"/>
            <a:ext cx="489204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基于前文迭代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47104" y="4297680"/>
            <a:ext cx="489204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10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保持上下文连贯，把已确认的文档作为下一份文档的输入依据。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45936" y="4846320"/>
            <a:ext cx="5276088" cy="11887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28816" y="4956048"/>
            <a:ext cx="4910328" cy="9875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落地约束（本项目实际采用）</a:t>
            </a:r>
          </a:p>
          <a:p>
            <a:pPr algn="l">
              <a:lnSpc>
                <a:spcPct val="130000"/>
              </a:lnSpc>
            </a:pP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· 文档任务先交付撰写计划，确认后再正式撰写；不确定细节逐项确认。· 报错与验证必须给出可复现命令与预期输出，不以“应该可以”作为结论。· 单次 HTTP 200 不等于业务流程正确；接口、数据库、文件与页面都要核对。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6446520" cy="68580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46520" y="0"/>
            <a:ext cx="574544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38928" y="822960"/>
            <a:ext cx="1051560" cy="1051560"/>
          </a:xfrm>
          <a:prstGeom prst="ellipse">
            <a:avLst/>
          </a:prstGeom>
          <a:solidFill>
            <a:srgbClr val="1B3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5138928" y="4480560"/>
            <a:ext cx="502920" cy="502920"/>
          </a:xfrm>
          <a:prstGeom prst="ellipse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47088"/>
            <a:ext cx="402336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5000"/>
              </a:lnSpc>
            </a:pPr>
            <a:r>
              <a:rPr sz="9600" b="1">
                <a:solidFill>
                  <a:srgbClr val="2B59A8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3401568"/>
            <a:ext cx="5120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验证、验收与交付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4114800"/>
            <a:ext cx="1371600" cy="4572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4315968"/>
            <a:ext cx="50292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>
                <a:solidFill>
                  <a:srgbClr val="A8BCD8"/>
                </a:solidFill>
                <a:latin typeface="Microsoft YaHei"/>
                <a:ea typeface="Microsoft YaHei"/>
                <a:cs typeface="Microsoft YaHei"/>
              </a:rPr>
              <a:t>按 SKILL.md 六段式组织实训材料，并给出可复制的
验证命令、故障排除对照与诚实的验收边界。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86600" y="1463040"/>
            <a:ext cx="4480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CONTENTS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50608" y="18745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26096" y="18562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项目背景与需求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50608" y="23317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26096" y="23134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整体架构与技术选型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50608" y="27889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6096" y="27706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AI 共创 PRD 文档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50608" y="32461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26096" y="32278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AI 共创 UI/UX 文档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50608" y="37033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26096" y="36850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核心功能模块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50608" y="41605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6096" y="41422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核心技术实现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67728" y="4571999"/>
            <a:ext cx="4572000" cy="402336"/>
          </a:xfrm>
          <a:prstGeom prst="roundRect">
            <a:avLst>
              <a:gd name="adj" fmla="val 14000"/>
            </a:avLst>
          </a:prstGeom>
          <a:solidFill>
            <a:srgbClr val="EFF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50608" y="4617719"/>
            <a:ext cx="38404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6096" y="4599431"/>
            <a:ext cx="3657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验证、验收与交付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607040" y="617220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D3DDEC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7 章 · 验证、验收与交付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实训交付：六段式模板与配套材料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42415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实训指导书统一采用六段式结构，每份材料都为操作步骤提供 PowerShell 命令、验证方法与成功标志。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4023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D3DDEC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55096" cy="10972"/>
          </a:xfrm>
          <a:prstGeom prst="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47104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批小智 · AI 自动批改作业智能体  |  AI 共创开发汇报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547104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34 / 37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1517904"/>
            <a:ext cx="54864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SKILL.md 六段式模板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1792224"/>
            <a:ext cx="5522976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1874520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一、实训目标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15184" y="1892808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3–5 条具体可衡量的目标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2414016"/>
            <a:ext cx="5522976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2496312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二、实训内容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15184" y="2514600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背景知识 + 项目结构说明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035808"/>
            <a:ext cx="5522976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3118104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三、实训步骤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15184" y="3136392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详细代码 + 功能说明 + 验证步骤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3657600"/>
            <a:ext cx="5522976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3739896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四、验证清单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15184" y="3758184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完成后逐项核对的验证表格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79392"/>
            <a:ext cx="5522976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361688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五、故障排除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615184" y="4379976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常见问题现象与解决方案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901184"/>
            <a:ext cx="5522976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983480"/>
            <a:ext cx="182880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六、参考代码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15184" y="5001768"/>
            <a:ext cx="32918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完整目录结构 + 常用命令 + 关键配置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541264"/>
            <a:ext cx="5522976" cy="566928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9525">
            <a:solidFill>
              <a:srgbClr val="C7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5641848"/>
            <a:ext cx="5157216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无冗余原则：不使用 Emoji；不添加与实训无关的内容；保持文档简洁专业。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45936" y="1517904"/>
            <a:ext cx="527608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配套实训材料（6 份核心 + 3 份附录）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45936" y="1792224"/>
            <a:ext cx="5276088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28816" y="1883664"/>
            <a:ext cx="4910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01　PRD 文档编写实训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45936" y="2226564"/>
            <a:ext cx="5276088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28816" y="2318004"/>
            <a:ext cx="4910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02　UI/UX 设计实训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45936" y="2660904"/>
            <a:ext cx="5276088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528816" y="2752344"/>
            <a:ext cx="4910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03　开发任务拆分实训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345936" y="3095244"/>
            <a:ext cx="5276088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28816" y="3186684"/>
            <a:ext cx="4910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04　前端开发实训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345936" y="3529584"/>
            <a:ext cx="5276088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28816" y="3621024"/>
            <a:ext cx="4910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05　后端开发实训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45936" y="3963924"/>
            <a:ext cx="5276088" cy="384048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528816" y="4055364"/>
            <a:ext cx="4910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06　测试执行实训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45936" y="4398264"/>
            <a:ext cx="5276088" cy="384048"/>
          </a:xfrm>
          <a:prstGeom prst="roundRect">
            <a:avLst>
              <a:gd name="adj" fmla="val 10000"/>
            </a:avLst>
          </a:prstGeom>
          <a:solidFill>
            <a:srgbClr val="FAFBFE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528816" y="4489704"/>
            <a:ext cx="4910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附录 A　API Key 申请实训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345936" y="4832604"/>
            <a:ext cx="5276088" cy="384048"/>
          </a:xfrm>
          <a:prstGeom prst="roundRect">
            <a:avLst>
              <a:gd name="adj" fmla="val 10000"/>
            </a:avLst>
          </a:prstGeom>
          <a:solidFill>
            <a:srgbClr val="FAFBFE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528816" y="4924044"/>
            <a:ext cx="4910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附录 B　Nginx HTTPS 服务配置实训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345936" y="5266944"/>
            <a:ext cx="5276088" cy="384048"/>
          </a:xfrm>
          <a:prstGeom prst="roundRect">
            <a:avLst>
              <a:gd name="adj" fmla="val 10000"/>
            </a:avLst>
          </a:prstGeom>
          <a:solidFill>
            <a:srgbClr val="FAFBFE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28816" y="5358384"/>
            <a:ext cx="4910328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附录 C　多端口 HTTPS 实训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345936" y="5719572"/>
            <a:ext cx="5276088" cy="566928"/>
          </a:xfrm>
          <a:prstGeom prst="roundRect">
            <a:avLst>
              <a:gd name="adj" fmla="val 10000"/>
            </a:avLst>
          </a:prstGeom>
          <a:solidFill>
            <a:srgbClr val="ECFDF3"/>
          </a:solidFill>
          <a:ln w="9525">
            <a:solidFill>
              <a:srgbClr val="B7E1C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28816" y="5820156"/>
            <a:ext cx="491032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1">
                <a:solidFill>
                  <a:srgbClr val="166534"/>
                </a:solidFill>
                <a:latin typeface="Microsoft YaHei"/>
                <a:ea typeface="Microsoft YaHei"/>
                <a:cs typeface="Microsoft YaHei"/>
              </a:rPr>
              <a:t>配套 RAG 语料 18 份 + 助手提示词 1 份，用于检索项目事实、路径、接口与验证命令。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7 章 · 验证、验收与交付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验证清单：可复制的命令与可观察的预期结果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42415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在项目根目录使用项目虚拟环境执行；每一步都必须有明确命令、预期输出与成功标志。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4023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D3DDEC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55096" cy="10972"/>
          </a:xfrm>
          <a:prstGeom prst="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47104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批小智 · AI 自动批改作业智能体  |  AI 共创开发汇报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547104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35 / 37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517904"/>
            <a:ext cx="2101381" cy="29260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验证项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68309" y="1517904"/>
            <a:ext cx="5938687" cy="29260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命令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06997" y="1517904"/>
            <a:ext cx="3015026" cy="29260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预期结果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1810512"/>
            <a:ext cx="2101381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后端静态编译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68309" y="1810512"/>
            <a:ext cx="5938687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&amp; .\backend\.backend-venv\Scripts\python.exe -m compileall -q .\backend\app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606997" y="1810512"/>
            <a:ext cx="3015026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退出码 0，无语法错误输出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2194560"/>
            <a:ext cx="2101381" cy="3840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工作流单元测试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68309" y="2194560"/>
            <a:ext cx="5938687" cy="3840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… -m unittest discover -s backend/tests -v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06997" y="2194560"/>
            <a:ext cx="3015026" cy="3840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2 项 LangGraph 工作流冒烟测试通过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" y="2578608"/>
            <a:ext cx="2101381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迁移一致性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68309" y="2578608"/>
            <a:ext cx="5938687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… -m alembic -c .\backend\alembic.ini check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606997" y="2578608"/>
            <a:ext cx="3015026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No new upgrade operations detected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2962656"/>
            <a:ext cx="2101381" cy="3840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前端生产构建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68309" y="2962656"/>
            <a:ext cx="5938687" cy="3840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npm run build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06997" y="2962656"/>
            <a:ext cx="3015026" cy="3840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tsc --noEmit 与 vite build 通过并生成 dist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346704"/>
            <a:ext cx="2101381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后端就绪探针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68309" y="3346704"/>
            <a:ext cx="5938687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Invoke-RestMethod http://127.0.0.1:8000/health/ready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606997" y="3346704"/>
            <a:ext cx="3015026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status=ready、database=true、storage=true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730752"/>
            <a:ext cx="2101381" cy="3840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会话与基础数据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68309" y="3730752"/>
            <a:ext cx="5938687" cy="3840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登录后 GET /api/v1/classes、/api/v1/batches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606997" y="3730752"/>
            <a:ext cx="3015026" cy="3840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返回当前教师的班级与批次数据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66928" y="4114800"/>
            <a:ext cx="2101381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批次可上传 / 可批改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668309" y="4114800"/>
            <a:ext cx="5938687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GET /api/v1/batches/{batch_id}/validate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606997" y="4114800"/>
            <a:ext cx="3015026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valid_for_upload 与 valid_for_grading 同入队校验一致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66928" y="4498848"/>
            <a:ext cx="2101381" cy="3840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OCR 任务进度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68309" y="4498848"/>
            <a:ext cx="5938687" cy="3840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GET /api/v1/batches/{batch_id}/ocr-task?file_role=student_work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606997" y="4498848"/>
            <a:ext cx="3015026" cy="384048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返回排队 / 处理中 / 已完成、阶段、已处理页数与百分比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4882896"/>
            <a:ext cx="2101381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报告导出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68309" y="4882896"/>
            <a:ext cx="5938687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POST /api/v1/batches/{batch_id}/exports → GET /exports/{id}/download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606997" y="4882896"/>
            <a:ext cx="3015026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文件可下载可打开（实测 PDF 23801 bytes，文件头 %PDF）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66928" y="1517904"/>
            <a:ext cx="11055096" cy="3749040"/>
          </a:xfrm>
          <a:prstGeom prst="rect">
            <a:avLst/>
          </a:prstGeom>
          <a:noFill/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566928" y="5358384"/>
            <a:ext cx="11055096" cy="676656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9525">
            <a:solidFill>
              <a:srgbClr val="F5D0B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68096" y="5468112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成功标志的边界：</a:t>
            </a:r>
            <a:r>
              <a:rPr sz="950" b="0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上述命令通过只说明工程可构建、核心代码可加载、接口可用。它不等于 OCR 或评分准确率达标，也不等于生产级验收完成；准确率只能引用具备样本范围、真值与口径的独立评测证据。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69" cy="685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29184"/>
            <a:ext cx="86868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2563EB"/>
                </a:solidFill>
                <a:latin typeface="Microsoft YaHei"/>
                <a:ea typeface="Microsoft YaHei"/>
                <a:cs typeface="Microsoft YaHei"/>
              </a:rPr>
              <a:t>第 7 章 · 验证、验收与交付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548640"/>
            <a:ext cx="9509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故障排除与验收结论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042415"/>
            <a:ext cx="11055096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故障排除覆盖本项目实际遇到的高频问题；结论区分“已完成”“未完成”与“不可外推的边界”。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402336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2000" b="1">
                <a:solidFill>
                  <a:srgbClr val="D3DDEC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6473952"/>
            <a:ext cx="11055096" cy="10972"/>
          </a:xfrm>
          <a:prstGeom prst="rect">
            <a:avLst/>
          </a:prstGeom>
          <a:solidFill>
            <a:srgbClr val="DCE4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6928" y="6547104"/>
            <a:ext cx="82296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批小智 · AI 自动批改作业智能体  |  AI 共创开发汇报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92640" y="6547104"/>
            <a:ext cx="192024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>
                <a:solidFill>
                  <a:srgbClr val="7B8AA3"/>
                </a:solidFill>
                <a:latin typeface="Microsoft YaHei"/>
                <a:ea typeface="Microsoft YaHei"/>
                <a:cs typeface="Microsoft YaHei"/>
              </a:rPr>
              <a:t>36 / 37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1517904"/>
            <a:ext cx="2164903" cy="29260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现象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31831" y="1517904"/>
            <a:ext cx="4510216" cy="292608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原因与处理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" y="1810512"/>
            <a:ext cx="2164903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前端请求 401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31831" y="1810512"/>
            <a:ext cx="4510216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会话过期或 Cookie 未生效 → 重新登录；有未保存草稿时先提示，不静默丢弃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2414016"/>
            <a:ext cx="2164903" cy="60350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删除被 FILE_DELETE_LOCKED 拦截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31831" y="2414016"/>
            <a:ext cx="4510216" cy="60350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文件已绑定学生 / 页序 / 答案或批次已进入批改 → 未进入下游用 DELETE；已进入 OCR 且状态安全时用 purge（需回显原文件名）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3017520"/>
            <a:ext cx="2164903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MODEL_KEY_UNAVAILABLE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31831" y="3017520"/>
            <a:ext cx="4510216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后端进程运行时无可用 API Key → 在“模型配置”重新保存；Key 只驻留进程内存，不写入 SQLite 与日志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621024"/>
            <a:ext cx="2164903" cy="60350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批改前置条件不满足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31831" y="3621024"/>
            <a:ext cx="4510216" cy="60350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归属 / 页序 / 答案覆盖 / 评分标准 / 模型 Key 任一未满足 → 复用同一校验函数返回逐项 grading_errors，页面展示具体阻断项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66928" y="4224528"/>
            <a:ext cx="2164903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任务 succeeded 但前端无文本块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31831" y="4224528"/>
            <a:ext cx="4510216" cy="60350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前后端响应结构不一致（ocr_runs[].blocks 与 latest_ocr_run.blocks）→ 统一字段契约并增加契约测试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66928" y="4828032"/>
            <a:ext cx="2164903" cy="60350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页面确认成功但批改仍被阻断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31831" y="4828032"/>
            <a:ext cx="4510216" cy="603504"/>
          </a:xfrm>
          <a:prstGeom prst="rect">
            <a:avLst/>
          </a:prstGeom>
          <a:solidFill>
            <a:srgbClr val="F3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82296" rIns="54864" tIns="0" bIns="0"/>
          <a:lstStyle/>
          <a:p>
            <a:pPr algn="ctr"/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页面级确认掩盖了题目级答案覆盖不完整 → 为每个学生 × 题目生成明确覆盖状态并在 UI 展示缺口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66928" y="1517904"/>
            <a:ext cx="6675120" cy="3913632"/>
          </a:xfrm>
          <a:prstGeom prst="rect">
            <a:avLst/>
          </a:prstGeom>
          <a:noFill/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498080" y="1517904"/>
            <a:ext cx="4123944" cy="1517904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498080" y="1517904"/>
            <a:ext cx="50292" cy="1517904"/>
          </a:xfrm>
          <a:prstGeom prst="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699248" y="1664208"/>
            <a:ext cx="3739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已完成的验证证据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99248" y="2011680"/>
            <a:ext cx="3739896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构建与静态检查　</a:t>
            </a: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npm run build、python -m compileall、alembic check、2 项 LangGraph 工作流测试全部通过。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接口冒烟　</a:t>
            </a: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/health/live、/health/ready、登录与会话、classes、batches、validate、rubric 等返回 200。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9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受控业务链路　</a:t>
            </a:r>
            <a:r>
              <a:rPr sz="90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PDF 栅格化 → OCR → 校对与归属 → LangGraph 批改 → 客观题建议分 → 教师复核 → reviewed 报告 → PDF 导出（实测 23801 bytes）。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0" y="3163824"/>
            <a:ext cx="4123944" cy="177393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DCE4E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498080" y="3163824"/>
            <a:ext cx="50292" cy="1773936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699248" y="3310128"/>
            <a:ext cx="373989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0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未完成项与不可外推边界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99248" y="3657600"/>
            <a:ext cx="3739896" cy="11704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待补回归　</a:t>
            </a:r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中文 / 英文 / 数学手写与主观题模型的真实运行回归；多页 PDF、文件角色混淆、失败重试复用源文件等场景。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UI 验收　</a:t>
            </a:r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浏览器端到端点击验收曾受自动化桥接故障阻断，改以内置浏览器逐页复核完成，未宣称全自动 E2E 通过。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指标　</a:t>
            </a:r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受控数据集上的 OCR / 评分准确率、并发与 60 秒端到端目标尚未完成正式评测。</a:t>
            </a:r>
          </a:p>
          <a:p>
            <a:pPr algn="l">
              <a:lnSpc>
                <a:spcPct val="122000"/>
              </a:lnSpc>
              <a:spcAft>
                <a:spcPts val="300"/>
              </a:spcAft>
            </a:pPr>
            <a:r>
              <a:rPr sz="850" b="1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边界声明　</a:t>
            </a:r>
            <a:r>
              <a:rPr sz="850" b="0">
                <a:solidFill>
                  <a:srgbClr val="52627A"/>
                </a:solidFill>
                <a:latin typeface="Microsoft YaHei"/>
                <a:ea typeface="Microsoft YaHei"/>
                <a:cs typeface="Microsoft YaHei"/>
              </a:rPr>
              <a:t>构建通过 ≠ 准确率达标；单样例受控回归 ≠ 生产级验收；reported 数字必须注明样本、口径与模型版本。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498080" y="5065776"/>
            <a:ext cx="4123944" cy="969264"/>
          </a:xfrm>
          <a:prstGeom prst="roundRect">
            <a:avLst>
              <a:gd name="adj" fmla="val 8000"/>
            </a:avLst>
          </a:prstGeom>
          <a:solidFill>
            <a:srgbClr val="EFF6FF"/>
          </a:solidFill>
          <a:ln w="9525">
            <a:solidFill>
              <a:srgbClr val="C7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80960" y="5175504"/>
            <a:ext cx="3758184" cy="7863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000" b="1">
                <a:solidFill>
                  <a:srgbClr val="1D4ED8"/>
                </a:solidFill>
                <a:latin typeface="Microsoft YaHei"/>
                <a:ea typeface="Microsoft YaHei"/>
                <a:cs typeface="Microsoft YaHei"/>
              </a:rPr>
              <a:t>当前结论</a:t>
            </a:r>
          </a:p>
          <a:p>
            <a:pPr algn="l">
              <a:lnSpc>
                <a:spcPct val="130000"/>
              </a:lnSpc>
            </a:pPr>
            <a:r>
              <a:rPr sz="950" b="0">
                <a:solidFill>
                  <a:srgbClr val="0F1E33"/>
                </a:solidFill>
                <a:latin typeface="Microsoft YaHei"/>
                <a:ea typeface="Microsoft YaHei"/>
                <a:cs typeface="Microsoft YaHei"/>
              </a:rPr>
              <a:t>核心技术已落到真实 Worker 与受控业务链路中，WebApp 达到可继续交付联调的状态；尚不能宣称生产级验收全部通过。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69" cy="6858000"/>
          </a:xfrm>
          <a:prstGeom prst="rect">
            <a:avLst/>
          </a:prstGeom>
          <a:solidFill>
            <a:srgbClr val="142A4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223760" y="0"/>
            <a:ext cx="4968209" cy="6858000"/>
          </a:xfrm>
          <a:prstGeom prst="rect">
            <a:avLst/>
          </a:prstGeom>
          <a:solidFill>
            <a:srgbClr val="1B36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595360" y="-1463040"/>
            <a:ext cx="3840480" cy="3840480"/>
          </a:xfrm>
          <a:prstGeom prst="ellipse">
            <a:avLst/>
          </a:prstGeom>
          <a:solidFill>
            <a:srgbClr val="2446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22960" y="1170432"/>
            <a:ext cx="68580" cy="1371600"/>
          </a:xfrm>
          <a:prstGeom prst="rect">
            <a:avLst/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188720"/>
            <a:ext cx="64008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7DD3FC"/>
                </a:solidFill>
                <a:latin typeface="Microsoft YaHei"/>
                <a:ea typeface="Microsoft YaHei"/>
                <a:cs typeface="Microsoft YaHei"/>
              </a:rPr>
              <a:t>结论与交付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1572768"/>
            <a:ext cx="6949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批小智首版围绕“批次上下文、原图证据、OCR 校对、</a:t>
            </a:r>
          </a:p>
          <a:p>
            <a:pPr algn="l">
              <a:lnSpc>
                <a:spcPct val="130000"/>
              </a:lnSpc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评分依据、AI 建议、教师确认、正式报告”实现可追溯闭环。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6148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1100" b="0">
                <a:solidFill>
                  <a:srgbClr val="C3D3E6"/>
                </a:solidFill>
                <a:latin typeface="Microsoft YaHei"/>
                <a:ea typeface="Microsoft YaHei"/>
                <a:cs typeface="Microsoft YaHei"/>
              </a:rPr>
              <a:t>WebApp 源码（前端 React + TS + Vite / 后端 FastAPI + SQLite）与部署版代码包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45536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1100" b="0">
                <a:solidFill>
                  <a:srgbClr val="C3D3E6"/>
                </a:solidFill>
                <a:latin typeface="Microsoft YaHei"/>
                <a:ea typeface="Microsoft YaHei"/>
                <a:cs typeface="Microsoft YaHei"/>
              </a:rPr>
              <a:t>PRD 文档、UI/UX 设计文档、开发技术文档、数据库设计与 API 接口契约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529584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1100" b="0">
                <a:solidFill>
                  <a:srgbClr val="C3D3E6"/>
                </a:solidFill>
                <a:latin typeface="Microsoft YaHei"/>
                <a:ea typeface="Microsoft YaHei"/>
                <a:cs typeface="Microsoft YaHei"/>
              </a:rPr>
              <a:t>实训指导书 9 份（6 份核心实训 + 3 份附录），统一采用六段式模板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13632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1100" b="0">
                <a:solidFill>
                  <a:srgbClr val="C3D3E6"/>
                </a:solidFill>
                <a:latin typeface="Microsoft YaHei"/>
                <a:ea typeface="Microsoft YaHei"/>
                <a:cs typeface="Microsoft YaHei"/>
              </a:rPr>
              <a:t>RAG 语料 18 份与 RAG 助手提示词，用于检索项目事实、路径与接口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97680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1100" b="0">
                <a:solidFill>
                  <a:srgbClr val="C3D3E6"/>
                </a:solidFill>
                <a:latin typeface="Microsoft YaHei"/>
                <a:ea typeface="Microsoft YaHei"/>
                <a:cs typeface="Microsoft YaHei"/>
              </a:rPr>
              <a:t>验收资料与功能交互验收报告，记录证据、风险与修复顺序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681728"/>
            <a:ext cx="6766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C2410C"/>
                </a:solidFill>
                <a:latin typeface="Microsoft YaHei"/>
                <a:ea typeface="Microsoft YaHei"/>
                <a:cs typeface="Microsoft YaHei"/>
              </a:rPr>
              <a:t>— </a:t>
            </a:r>
            <a:r>
              <a:rPr sz="1100" b="0">
                <a:solidFill>
                  <a:srgbClr val="C3D3E6"/>
                </a:solidFill>
                <a:latin typeface="Microsoft YaHei"/>
                <a:ea typeface="Microsoft YaHei"/>
                <a:cs typeface="Microsoft YaHei"/>
              </a:rPr>
              <a:t>本汇报演示文稿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5193792"/>
            <a:ext cx="6903720" cy="786384"/>
          </a:xfrm>
          <a:prstGeom prst="roundRect">
            <a:avLst>
              <a:gd name="adj" fmla="val 12000"/>
            </a:avLst>
          </a:prstGeom>
          <a:solidFill>
            <a:srgbClr val="1C3863"/>
          </a:solidFill>
          <a:ln w="9525">
            <a:solidFill>
              <a:srgbClr val="2E54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25296" y="5321808"/>
            <a:ext cx="64922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1">
                <a:solidFill>
                  <a:srgbClr val="BFD4EE"/>
                </a:solidFill>
                <a:latin typeface="Microsoft YaHei"/>
                <a:ea typeface="Microsoft YaHei"/>
                <a:cs typeface="Microsoft YaHei"/>
              </a:rPr>
              <a:t>严格来说，本项目的价值不在于“AI 给了多少分”，</a:t>
            </a:r>
          </a:p>
          <a:p>
            <a:pPr algn="l">
              <a:lnSpc>
                <a:spcPct val="125000"/>
              </a:lnSpc>
            </a:pPr>
            <a:r>
              <a:rPr sz="1050" b="1">
                <a:solidFill>
                  <a:srgbClr val="BFD4EE"/>
                </a:solidFill>
                <a:latin typeface="Microsoft YaHei"/>
                <a:ea typeface="Microsoft YaHei"/>
                <a:cs typeface="Microsoft YaHei"/>
              </a:rPr>
              <a:t>而在于每个分数都能回溯到原图、依据与确认人。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18120" y="2697480"/>
            <a:ext cx="374903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汇报完毕 · 请指正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3200400"/>
            <a:ext cx="374903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050" b="0">
                <a:solidFill>
                  <a:srgbClr val="93A9C6"/>
                </a:solidFill>
                <a:latin typeface="Microsoft YaHei"/>
                <a:ea typeface="Microsoft YaHei"/>
                <a:cs typeface="Microsoft YaHei"/>
              </a:rPr>
              <a:t>AI 自动批改作业智能体 · 批小智</a:t>
            </a:r>
          </a:p>
          <a:p>
            <a:pPr algn="l">
              <a:lnSpc>
                <a:spcPct val="140000"/>
              </a:lnSpc>
            </a:pPr>
            <a:r>
              <a:rPr sz="1050" b="0">
                <a:solidFill>
                  <a:srgbClr val="93A9C6"/>
                </a:solidFill>
                <a:latin typeface="Microsoft YaHei"/>
                <a:ea typeface="Microsoft YaHei"/>
                <a:cs typeface="Microsoft YaHei"/>
              </a:rPr>
              <a:t>项目交付包 · v1.0.0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5852160"/>
            <a:ext cx="3108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E88AE"/>
                </a:solidFill>
                <a:latin typeface="Microsoft YaHei"/>
                <a:ea typeface="Microsoft YaHei"/>
                <a:cs typeface="Microsoft YaHei"/>
              </a:rPr>
              <a:t>37 / 37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